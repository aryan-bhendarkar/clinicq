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c85a924-25bf-4f1e-2e8f-6a004560bf28}">
          <p14:sldIdLst>
            <p14:sldId id="256"/>
            <p14:sldId id="257"/>
            <p14:sldId id="258"/>
          </p14:sldIdLst>
        </p14:section>
        <p14:section name="Application and quality" id="{7da53125-73b5-5830-6dba-cd10dab411f9}">
          <p14:sldIdLst>
            <p14:sldId id="259"/>
            <p14:sldId id="260"/>
            <p14:sldId id="261"/>
          </p14:sldIdLst>
        </p14:section>
        <p14:section name="Delivery" id="{d263566b-ce9e-26cb-33b3-c2e3b30ca458}">
          <p14:sldIdLst>
            <p14:sldId id="262"/>
            <p14:sldId id="263"/>
            <p14:sldId id="264"/>
          </p14:sldIdLst>
        </p14:section>
        <p14:section name="Infrastructure" id="{ca5d86b6-56ee-917d-34b8-6b4630649f3d}">
          <p14:sldIdLst>
            <p14:sldId id="265"/>
            <p14:sldId id="266"/>
          </p14:sldIdLst>
        </p14:section>
        <p14:section name="Operations" id="{aa3184fc-040b-5f2f-564a-f2d1bb0f262a}">
          <p14:sldIdLst>
            <p14:sldId id="267"/>
            <p14:sldId id="268"/>
            <p14:sldId id="269"/>
            <p14:sldId id="270"/>
            <p14:sldId id="271"/>
            <p14:sldId id="272"/>
          </p14:sldIdLst>
        </p14:section>
        <p14:section name="Wrap-up" id="{e212f723-629e-1770-fb98-eb268d842f64}">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ClinicQ: a clinic front-desk booking console. The app is deliberately small; the point is the path from a git commit to a monitored Kubernetes cluster on AWS. Everything on the next slides is real and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of context. Twelve endpoints, fifteen tests, two migrations, twenty commits. The rest of the deck follows the course modules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delivery: a push to main runs Actions, which pushes SHA-tagged images to GHCR and commits the new tag to Git; ArgoCD watches the repo and syncs the cluster. Terraform builds the network and cluster underneath. Inside the cluster the Ingress routes slash-api to the backend and everything else to the frontend; the backend talks to PostgreSQL on an EBS volume; Prometheus scrapes the backend and Grafana reads from Prometheus.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running app. Booking the same doctor and slot twice returns 409, so a doctor cannot be double-booked. The backend has liveness, readiness and metrics endpoints, which the later Kubernetes and monitoring slides depend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tests, all on an in-memory database through a dependency override. They run before any Docker image is built, so a failing test stops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 history is incremental: backend, migrations, tests, frontend, Docker, CI, Terraform, Helm, monitoring, docs, then the deployment fixes. No credentials are committed; the gitignore covers env files, caches, virtual environments and Terraform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Dockerfile is multi-stage so build tooling stays out of the runtime image. Both containers run as non-root users. Compose starts all three services with one command, and the backend waits for a healthy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on every push to main. Tests gate the build, both images are scanned before they are pushed, and each image is tagged with the commit SHA so a running pod traces back to a commit. The last job commits the new tag to the Helm values file in Git, and ArgoCD deploys from there, so the pipeline needs no cluster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local scan found three high severity issues in Starlette and two in Alpine libraries. I upgraded the dependencies and ran an Alpine upgrade in the runtime image; the rescan is clean. The pipeline scans both images and fails the build on any high or critical finding with a fix available, before anything is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creates the VPC with two public and two private subnets and a NAT gateway, then EKS with a managed node group and the add-ons the workload needs: the EBS CSI driver for the Postgres volume and metrics-server for the autoscaler.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shows sixty resources to add with no errors. Apply creates the network, cluster and add-ons. Nodes join and become Ready. At the end terraform destroy tears all of it down so no AWS cost is left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Helm chart packages everything. Two replicas each for frontend and backend, ClusterIP services, PostgreSQL as a StatefulSet on an EBS volume, and database migrations as a post-install Helm hook job, so several replicas never race to migrate the same schema. All pods are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Ingress sends slash-api to the backend and everything else to the frontend. Under a load test the autoscaler took the backend from two to six pods. One honest limitation: this AWS account refuses to create load balancers, so I reach the Ingress controller with a port-forward; the routing rules are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GitOps flow. A push to main runs the pipeline; its last job commits the new image tag into the Helm values file in Git; ArgoCD sees that commit and rolls the cluster forward. In ArgoCD the clinicq application is Healthy and Synced, and the last sync is the commit made by github-actions with the new tag. The cluster changes only through Git, with prune and self-heal on, so manual drift is reverted.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metrics, a ServiceMonitor tells Prometheus to scrape both pods, and Grafana shows request rate by endpoint, p95 latency, 5xx errors, bookings and cancellations from a custom counter, pod count and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failures during deployment, each diagnosed from events and describe output. They are documented in the repo so they stay fixed in code: the Terraform and StorageClass changes are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deliberately broken manifests live in the troubleshooting folder. The live demo applies one, reads the symptom, follows the diagnosis commands, and fixes it. The key lesson for the Service case: no matching labels means no endpoints means no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limits. Then the next steps I would take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live demo: small UI change, commit, push, watch the pipeline, deploy the new SHA with Helm, refresh through the Ingress, show Grafana, then break and fix a Service. Close by pointing at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0231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8B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ClinicQ  ·  DevOps Final Capstone</a:t>
            </a:r>
            <a:endParaRPr lang="en-US" sz="1100" dirty="0"/>
          </a:p>
        </p:txBody>
      </p:sp>
      <p:sp>
        <p:nvSpPr>
          <p:cNvPr id="3" name="Text 1"/>
          <p:cNvSpPr/>
          <p:nvPr>
            <p:ph idx="101" type="title" hasCustomPrompt="1"/>
          </p:nvPr>
        </p:nvSpPr>
        <p:spPr>
          <a:xfrm>
            <a:off x="548640" y="365760"/>
            <a:ext cx="8595360" cy="82296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8B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k title"/>
          <p:cNvSpPr txBox="1"/>
          <p:nvPr/>
        </p:nvSpPr>
        <p:spPr>
          <a:xfrm>
            <a:off x="548640" y="1554480"/>
            <a:ext cx="5852160" cy="109728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ClinicQ</a:t>
            </a:r>
            <a:endParaRPr lang="en-US" sz="6600" dirty="0"/>
          </a:p>
        </p:txBody>
      </p:sp>
      <p:sp>
        <p:nvSpPr>
          <p:cNvPr id="3" name="deck subtitle"/>
          <p:cNvSpPr txBox="1"/>
          <p:nvPr/>
        </p:nvSpPr>
        <p:spPr>
          <a:xfrm>
            <a:off x="548640" y="2697480"/>
            <a:ext cx="5486400" cy="1097280"/>
          </a:xfrm>
          <a:prstGeom prst="rect">
            <a:avLst/>
          </a:prstGeom>
          <a:noFill/>
          <a:ln/>
        </p:spPr>
        <p:txBody>
          <a:bodyPr wrap="square" lIns="0" tIns="0" rIns="0" bIns="0" rtlCol="0" anchor="t"/>
          <a:lstStyle/>
          <a:p>
            <a:pPr indent="0" marL="0">
              <a:buNone/>
            </a:pPr>
            <a:r>
              <a:rPr lang="en-US" sz="2200" dirty="0">
                <a:solidFill>
                  <a:srgbClr val="CFE3DE"/>
                </a:solidFill>
              </a:rPr>
              <a:t>Clinic appointment booking, taken from a laptop to a monitored Kubernetes cluster on AWS</a:t>
            </a:r>
            <a:endParaRPr lang="en-US" sz="2200" dirty="0"/>
          </a:p>
        </p:txBody>
      </p:sp>
      <p:sp>
        <p:nvSpPr>
          <p:cNvPr id="4" name="deck byline"/>
          <p:cNvSpPr txBox="1"/>
          <p:nvPr/>
        </p:nvSpPr>
        <p:spPr>
          <a:xfrm>
            <a:off x="548640" y="4572000"/>
            <a:ext cx="5669280" cy="1005840"/>
          </a:xfrm>
          <a:prstGeom prst="rect">
            <a:avLst/>
          </a:prstGeom>
          <a:noFill/>
          <a:ln/>
        </p:spPr>
        <p:txBody>
          <a:bodyPr wrap="square" lIns="0" tIns="0" rIns="0" bIns="0" rtlCol="0" anchor="t"/>
          <a:lstStyle/>
          <a:p>
            <a:pPr indent="0" marL="0">
              <a:buNone/>
            </a:pPr>
            <a:r>
              <a:rPr lang="en-US" sz="1600" b="1" dirty="0">
                <a:solidFill>
                  <a:schemeClr val="accent2"/>
                </a:solidFill>
              </a:rPr>
              <a:t>DevOps Final Capstone</a:t>
            </a:r>
            <a:endParaRPr lang="en-US" sz="1600" dirty="0"/>
          </a:p>
          <a:p>
            <a:pPr indent="0" marL="0">
              <a:buNone/>
            </a:pPr>
            <a:r>
              <a:rPr lang="en-US" sz="1600" dirty="0">
                <a:solidFill>
                  <a:schemeClr val="accent2"/>
                </a:solidFill>
              </a:rPr>
              <a:t>Aryan Bhendarkar</a:t>
            </a:r>
            <a:endParaRPr lang="en-US" sz="1600" dirty="0"/>
          </a:p>
          <a:p>
            <a:pPr indent="0" marL="0">
              <a:buNone/>
            </a:pPr>
            <a:r>
              <a:rPr lang="en-US" sz="1600" dirty="0">
                <a:solidFill>
                  <a:schemeClr val="accent2"/>
                </a:solidFill>
              </a:rPr>
              <a:t>github.com/Aryan-Bhendarkar/ClinicQ</a:t>
            </a:r>
            <a:endParaRPr lang="en-US" sz="1600" dirty="0"/>
          </a:p>
        </p:txBody>
      </p:sp>
      <p:pic>
        <p:nvPicPr>
          <p:cNvPr id="5" name="title app screenshot" descr="title app screenshot">    </p:cNvPr>
          <p:cNvPicPr>
            <a:picLocks noChangeAspect="1"/>
          </p:cNvPicPr>
          <p:nvPr/>
        </p:nvPicPr>
        <p:blipFill>
          <a:blip r:embed="rId1"/>
          <a:stretch>
            <a:fillRect/>
          </a:stretch>
        </p:blipFill>
        <p:spPr>
          <a:xfrm>
            <a:off x="6583680" y="1949824"/>
            <a:ext cx="5029200" cy="2958353"/>
          </a:xfrm>
          <a:prstGeom prst="rect">
            <a:avLst/>
          </a:prstGeom>
          <a:effectLst>
            <a:outerShdw sx="100000" sy="100000" kx="0" ky="0" algn="bl" rotWithShape="0" blurRad="76200" dist="25400" dir="5400000">
              <a:srgbClr val="000000">
                <a:alpha val="18000"/>
              </a:srgbClr>
            </a:outerShdw>
          </a:effectLst>
        </p:spPr>
      </p:pic>
      <p:sp>
        <p:nvSpPr>
          <p:cNvPr id="6" name="title app screenshot border"/>
          <p:cNvSpPr/>
          <p:nvPr/>
        </p:nvSpPr>
        <p:spPr>
          <a:xfrm>
            <a:off x="6583680" y="1949824"/>
            <a:ext cx="5029200" cy="2958353"/>
          </a:xfrm>
          <a:prstGeom prst="rect">
            <a:avLst/>
          </a:prstGeom>
          <a:ln w="9525">
            <a:solidFill>
              <a:srgbClr val="CBD5E1"/>
            </a:solidFill>
            <a:prstDash val="solid"/>
          </a:ln>
        </p:spPr>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8B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What I built</a:t>
            </a:r>
            <a:endParaRPr lang="en-US" sz="3400" dirty="0"/>
          </a:p>
        </p:txBody>
      </p:sp>
      <p:sp>
        <p:nvSpPr>
          <p:cNvPr id="3" name="bullets"/>
          <p:cNvSpPr txBox="1"/>
          <p:nvPr/>
        </p:nvSpPr>
        <p:spPr>
          <a:xfrm>
            <a:off x="548640" y="1463040"/>
            <a:ext cx="5760720" cy="4480560"/>
          </a:xfrm>
          <a:prstGeom prst="rect">
            <a:avLst/>
          </a:prstGeom>
          <a:noFill/>
          <a:ln/>
        </p:spPr>
        <p:txBody>
          <a:bodyPr wrap="square" lIns="0" tIns="0" rIns="0" bIns="0" rtlCol="0" anchor="t"/>
          <a:lstStyle/>
          <a:p>
            <a:pPr marL="228600" indent="-228600">
              <a:spcAft>
                <a:spcPts val="1000"/>
              </a:spcAft>
              <a:buSzPct val="100000"/>
              <a:buChar char="•"/>
            </a:pPr>
            <a:r>
              <a:rPr lang="en-US" sz="1800" b="1" dirty="0">
                <a:solidFill>
                  <a:schemeClr val="tx1"/>
                </a:solidFill>
              </a:rPr>
              <a:t>The problem:</a:t>
            </a:r>
            <a:pPr indent="0" marL="0">
              <a:buNone/>
            </a:pPr>
            <a:r>
              <a:rPr lang="en-US" sz="1800" dirty="0">
                <a:solidFill>
                  <a:schemeClr val="tx1"/>
                </a:solidFill>
              </a:rPr>
              <a:t> front desks double-book doctors when schedules live on paper or in chat.</a:t>
            </a:r>
            <a:endParaRPr lang="en-US" sz="1800" dirty="0"/>
          </a:p>
          <a:p>
            <a:pPr marL="228600" indent="-228600">
              <a:spcAft>
                <a:spcPts val="1000"/>
              </a:spcAft>
              <a:buSzPct val="100000"/>
              <a:buChar char="•"/>
            </a:pPr>
            <a:r>
              <a:rPr lang="en-US" sz="1800" b="1" dirty="0">
                <a:solidFill>
                  <a:schemeClr val="tx1"/>
                </a:solidFill>
              </a:rPr>
              <a:t>The app:</a:t>
            </a:r>
            <a:pPr indent="0" marL="0">
              <a:buNone/>
            </a:pPr>
            <a:r>
              <a:rPr lang="en-US" sz="1800" dirty="0">
                <a:solidFill>
                  <a:schemeClr val="tx1"/>
                </a:solidFill>
              </a:rPr>
              <a:t> a booking console with stats, filters, status updates, and a 409 conflict guard per doctor and slot.</a:t>
            </a:r>
            <a:endParaRPr lang="en-US" sz="1800" dirty="0"/>
          </a:p>
          <a:p>
            <a:pPr marL="228600" indent="-228600">
              <a:spcAft>
                <a:spcPts val="1000"/>
              </a:spcAft>
              <a:buSzPct val="100000"/>
              <a:buChar char="•"/>
            </a:pPr>
            <a:r>
              <a:rPr lang="en-US" sz="1800" b="1" dirty="0">
                <a:solidFill>
                  <a:schemeClr val="tx1"/>
                </a:solidFill>
              </a:rPr>
              <a:t>The stack:</a:t>
            </a:r>
            <a:pPr indent="0" marL="0">
              <a:buNone/>
            </a:pPr>
            <a:r>
              <a:rPr lang="en-US" sz="1800" dirty="0">
                <a:solidFill>
                  <a:schemeClr val="tx1"/>
                </a:solidFill>
              </a:rPr>
              <a:t> React + Vite, FastAPI, PostgreSQL, SQLAlchemy and Alembic.</a:t>
            </a:r>
            <a:endParaRPr lang="en-US" sz="1800" dirty="0"/>
          </a:p>
          <a:p>
            <a:pPr marL="228600" indent="-228600">
              <a:spcAft>
                <a:spcPts val="1000"/>
              </a:spcAft>
              <a:buSzPct val="100000"/>
              <a:buChar char="•"/>
            </a:pPr>
            <a:r>
              <a:rPr lang="en-US" sz="1800" b="1" dirty="0">
                <a:solidFill>
                  <a:schemeClr val="tx1"/>
                </a:solidFill>
              </a:rPr>
              <a:t>The platform:</a:t>
            </a:r>
            <a:pPr indent="0" marL="0">
              <a:buNone/>
            </a:pPr>
            <a:r>
              <a:rPr lang="en-US" sz="1800" dirty="0">
                <a:solidFill>
                  <a:schemeClr val="tx1"/>
                </a:solidFill>
              </a:rPr>
              <a:t> Docker, GitHub Actions, Trivy, GHCR, Terraform, EKS, Helm, ArgoCD, Prometheus and Grafana.</a:t>
            </a:r>
            <a:endParaRPr lang="en-US" sz="1800" dirty="0"/>
          </a:p>
        </p:txBody>
      </p:sp>
      <p:sp>
        <p:nvSpPr>
          <p:cNvPr id="4" name="stat card REST endpoints"/>
          <p:cNvSpPr/>
          <p:nvPr/>
        </p:nvSpPr>
        <p:spPr>
          <a:xfrm>
            <a:off x="6858000" y="1463040"/>
            <a:ext cx="2286000" cy="2011680"/>
          </a:xfrm>
          <a:prstGeom prst="roundRect">
            <a:avLst>
              <a:gd name="adj" fmla="val 5455"/>
            </a:avLst>
          </a:prstGeom>
          <a:solidFill>
            <a:schemeClr val="bg2"/>
          </a:solidFill>
          <a:ln/>
        </p:spPr>
      </p:sp>
      <p:sp>
        <p:nvSpPr>
          <p:cNvPr id="5" name="stat REST endpoints"/>
          <p:cNvSpPr txBox="1"/>
          <p:nvPr/>
        </p:nvSpPr>
        <p:spPr>
          <a:xfrm>
            <a:off x="6995160" y="1572768"/>
            <a:ext cx="2011680" cy="1106424"/>
          </a:xfrm>
          <a:prstGeom prst="rect">
            <a:avLst/>
          </a:prstGeom>
          <a:noFill/>
          <a:ln/>
        </p:spPr>
        <p:txBody>
          <a:bodyPr wrap="square" lIns="0" tIns="0" rIns="0" bIns="0" rtlCol="0" anchor="ctr"/>
          <a:lstStyle/>
          <a:p>
            <a:pPr algn="l" indent="0" marL="0">
              <a:buNone/>
            </a:pPr>
            <a:r>
              <a:rPr lang="en-US" sz="4400" b="1" dirty="0">
                <a:solidFill>
                  <a:schemeClr val="accent1"/>
                </a:solidFill>
                <a:latin typeface="Cambria" pitchFamily="34" charset="0"/>
                <a:ea typeface="Cambria" pitchFamily="34" charset="-122"/>
                <a:cs typeface="Cambria" pitchFamily="34" charset="-120"/>
              </a:rPr>
              <a:t>12</a:t>
            </a:r>
            <a:endParaRPr lang="en-US" sz="4400" dirty="0"/>
          </a:p>
        </p:txBody>
      </p:sp>
      <p:sp>
        <p:nvSpPr>
          <p:cNvPr id="6" name="stat label REST endpoints"/>
          <p:cNvSpPr txBox="1"/>
          <p:nvPr/>
        </p:nvSpPr>
        <p:spPr>
          <a:xfrm>
            <a:off x="6995160" y="2710282"/>
            <a:ext cx="2011680" cy="603504"/>
          </a:xfrm>
          <a:prstGeom prst="rect">
            <a:avLst/>
          </a:prstGeom>
          <a:noFill/>
          <a:ln/>
        </p:spPr>
        <p:txBody>
          <a:bodyPr wrap="square" lIns="0" tIns="0" rIns="0" bIns="0" rtlCol="0" anchor="t"/>
          <a:lstStyle/>
          <a:p>
            <a:pPr algn="l" indent="0" marL="0">
              <a:buNone/>
            </a:pPr>
            <a:r>
              <a:rPr lang="en-US" sz="1400" dirty="0">
                <a:solidFill>
                  <a:schemeClr val="tx1"/>
                </a:solidFill>
              </a:rPr>
              <a:t>REST endpoints</a:t>
            </a:r>
            <a:endParaRPr lang="en-US" sz="1400" dirty="0"/>
          </a:p>
        </p:txBody>
      </p:sp>
      <p:sp>
        <p:nvSpPr>
          <p:cNvPr id="7" name="stat card automated tests"/>
          <p:cNvSpPr/>
          <p:nvPr/>
        </p:nvSpPr>
        <p:spPr>
          <a:xfrm>
            <a:off x="9326880" y="1463040"/>
            <a:ext cx="2286000" cy="2011680"/>
          </a:xfrm>
          <a:prstGeom prst="roundRect">
            <a:avLst>
              <a:gd name="adj" fmla="val 5455"/>
            </a:avLst>
          </a:prstGeom>
          <a:solidFill>
            <a:schemeClr val="bg2"/>
          </a:solidFill>
          <a:ln/>
        </p:spPr>
      </p:sp>
      <p:sp>
        <p:nvSpPr>
          <p:cNvPr id="8" name="stat automated tests"/>
          <p:cNvSpPr txBox="1"/>
          <p:nvPr/>
        </p:nvSpPr>
        <p:spPr>
          <a:xfrm>
            <a:off x="9464040" y="1572768"/>
            <a:ext cx="2011680" cy="1106424"/>
          </a:xfrm>
          <a:prstGeom prst="rect">
            <a:avLst/>
          </a:prstGeom>
          <a:noFill/>
          <a:ln/>
        </p:spPr>
        <p:txBody>
          <a:bodyPr wrap="square" lIns="0" tIns="0" rIns="0" bIns="0" rtlCol="0" anchor="ctr"/>
          <a:lstStyle/>
          <a:p>
            <a:pPr algn="l" indent="0" marL="0">
              <a:buNone/>
            </a:pPr>
            <a:r>
              <a:rPr lang="en-US" sz="4400" b="1" dirty="0">
                <a:solidFill>
                  <a:schemeClr val="accent1"/>
                </a:solidFill>
                <a:latin typeface="Cambria" pitchFamily="34" charset="0"/>
                <a:ea typeface="Cambria" pitchFamily="34" charset="-122"/>
                <a:cs typeface="Cambria" pitchFamily="34" charset="-120"/>
              </a:rPr>
              <a:t>15</a:t>
            </a:r>
            <a:endParaRPr lang="en-US" sz="4400" dirty="0"/>
          </a:p>
        </p:txBody>
      </p:sp>
      <p:sp>
        <p:nvSpPr>
          <p:cNvPr id="9" name="stat label automated tests"/>
          <p:cNvSpPr txBox="1"/>
          <p:nvPr/>
        </p:nvSpPr>
        <p:spPr>
          <a:xfrm>
            <a:off x="9464040" y="2710282"/>
            <a:ext cx="2011680" cy="603504"/>
          </a:xfrm>
          <a:prstGeom prst="rect">
            <a:avLst/>
          </a:prstGeom>
          <a:noFill/>
          <a:ln/>
        </p:spPr>
        <p:txBody>
          <a:bodyPr wrap="square" lIns="0" tIns="0" rIns="0" bIns="0" rtlCol="0" anchor="t"/>
          <a:lstStyle/>
          <a:p>
            <a:pPr algn="l" indent="0" marL="0">
              <a:buNone/>
            </a:pPr>
            <a:r>
              <a:rPr lang="en-US" sz="1400" dirty="0">
                <a:solidFill>
                  <a:schemeClr val="tx1"/>
                </a:solidFill>
              </a:rPr>
              <a:t>automated tests</a:t>
            </a:r>
            <a:endParaRPr lang="en-US" sz="1400" dirty="0"/>
          </a:p>
        </p:txBody>
      </p:sp>
      <p:sp>
        <p:nvSpPr>
          <p:cNvPr id="10" name="stat card Alembic migrations"/>
          <p:cNvSpPr/>
          <p:nvPr/>
        </p:nvSpPr>
        <p:spPr>
          <a:xfrm>
            <a:off x="6858000" y="3657600"/>
            <a:ext cx="2286000" cy="2011680"/>
          </a:xfrm>
          <a:prstGeom prst="roundRect">
            <a:avLst>
              <a:gd name="adj" fmla="val 5455"/>
            </a:avLst>
          </a:prstGeom>
          <a:solidFill>
            <a:schemeClr val="bg2"/>
          </a:solidFill>
          <a:ln/>
        </p:spPr>
      </p:sp>
      <p:sp>
        <p:nvSpPr>
          <p:cNvPr id="11" name="stat Alembic migrations"/>
          <p:cNvSpPr txBox="1"/>
          <p:nvPr/>
        </p:nvSpPr>
        <p:spPr>
          <a:xfrm>
            <a:off x="6995160" y="3767328"/>
            <a:ext cx="2011680" cy="1106424"/>
          </a:xfrm>
          <a:prstGeom prst="rect">
            <a:avLst/>
          </a:prstGeom>
          <a:noFill/>
          <a:ln/>
        </p:spPr>
        <p:txBody>
          <a:bodyPr wrap="square" lIns="0" tIns="0" rIns="0" bIns="0" rtlCol="0" anchor="ctr"/>
          <a:lstStyle/>
          <a:p>
            <a:pPr algn="l" indent="0" marL="0">
              <a:buNone/>
            </a:pPr>
            <a:r>
              <a:rPr lang="en-US" sz="4400" b="1" dirty="0">
                <a:solidFill>
                  <a:schemeClr val="accent1"/>
                </a:solidFill>
                <a:latin typeface="Cambria" pitchFamily="34" charset="0"/>
                <a:ea typeface="Cambria" pitchFamily="34" charset="-122"/>
                <a:cs typeface="Cambria" pitchFamily="34" charset="-120"/>
              </a:rPr>
              <a:t>2</a:t>
            </a:r>
            <a:endParaRPr lang="en-US" sz="4400" dirty="0"/>
          </a:p>
        </p:txBody>
      </p:sp>
      <p:sp>
        <p:nvSpPr>
          <p:cNvPr id="12" name="stat label Alembic migrations"/>
          <p:cNvSpPr txBox="1"/>
          <p:nvPr/>
        </p:nvSpPr>
        <p:spPr>
          <a:xfrm>
            <a:off x="6995160" y="4904842"/>
            <a:ext cx="2011680" cy="603504"/>
          </a:xfrm>
          <a:prstGeom prst="rect">
            <a:avLst/>
          </a:prstGeom>
          <a:noFill/>
          <a:ln/>
        </p:spPr>
        <p:txBody>
          <a:bodyPr wrap="square" lIns="0" tIns="0" rIns="0" bIns="0" rtlCol="0" anchor="t"/>
          <a:lstStyle/>
          <a:p>
            <a:pPr algn="l" indent="0" marL="0">
              <a:buNone/>
            </a:pPr>
            <a:r>
              <a:rPr lang="en-US" sz="1400" dirty="0">
                <a:solidFill>
                  <a:schemeClr val="tx1"/>
                </a:solidFill>
              </a:rPr>
              <a:t>Alembic migrations</a:t>
            </a:r>
            <a:endParaRPr lang="en-US" sz="1400" dirty="0"/>
          </a:p>
        </p:txBody>
      </p:sp>
      <p:sp>
        <p:nvSpPr>
          <p:cNvPr id="13" name="stat card descriptive commits"/>
          <p:cNvSpPr/>
          <p:nvPr/>
        </p:nvSpPr>
        <p:spPr>
          <a:xfrm>
            <a:off x="9326880" y="3657600"/>
            <a:ext cx="2286000" cy="2011680"/>
          </a:xfrm>
          <a:prstGeom prst="roundRect">
            <a:avLst>
              <a:gd name="adj" fmla="val 5455"/>
            </a:avLst>
          </a:prstGeom>
          <a:solidFill>
            <a:schemeClr val="bg2"/>
          </a:solidFill>
          <a:ln/>
        </p:spPr>
      </p:sp>
      <p:sp>
        <p:nvSpPr>
          <p:cNvPr id="14" name="stat descriptive commits"/>
          <p:cNvSpPr txBox="1"/>
          <p:nvPr/>
        </p:nvSpPr>
        <p:spPr>
          <a:xfrm>
            <a:off x="9464040" y="3767328"/>
            <a:ext cx="2011680" cy="1106424"/>
          </a:xfrm>
          <a:prstGeom prst="rect">
            <a:avLst/>
          </a:prstGeom>
          <a:noFill/>
          <a:ln/>
        </p:spPr>
        <p:txBody>
          <a:bodyPr wrap="square" lIns="0" tIns="0" rIns="0" bIns="0" rtlCol="0" anchor="ctr"/>
          <a:lstStyle/>
          <a:p>
            <a:pPr algn="l" indent="0" marL="0">
              <a:buNone/>
            </a:pPr>
            <a:r>
              <a:rPr lang="en-US" sz="4400" b="1" dirty="0">
                <a:solidFill>
                  <a:schemeClr val="accent1"/>
                </a:solidFill>
                <a:latin typeface="Cambria" pitchFamily="34" charset="0"/>
                <a:ea typeface="Cambria" pitchFamily="34" charset="-122"/>
                <a:cs typeface="Cambria" pitchFamily="34" charset="-120"/>
              </a:rPr>
              <a:t>20+</a:t>
            </a:r>
            <a:endParaRPr lang="en-US" sz="4400" dirty="0"/>
          </a:p>
        </p:txBody>
      </p:sp>
      <p:sp>
        <p:nvSpPr>
          <p:cNvPr id="15" name="stat label descriptive commits"/>
          <p:cNvSpPr txBox="1"/>
          <p:nvPr/>
        </p:nvSpPr>
        <p:spPr>
          <a:xfrm>
            <a:off x="9464040" y="4904842"/>
            <a:ext cx="2011680" cy="603504"/>
          </a:xfrm>
          <a:prstGeom prst="rect">
            <a:avLst/>
          </a:prstGeom>
          <a:noFill/>
          <a:ln/>
        </p:spPr>
        <p:txBody>
          <a:bodyPr wrap="square" lIns="0" tIns="0" rIns="0" bIns="0" rtlCol="0" anchor="t"/>
          <a:lstStyle/>
          <a:p>
            <a:pPr algn="l" indent="0" marL="0">
              <a:buNone/>
            </a:pPr>
            <a:r>
              <a:rPr lang="en-US" sz="1400" dirty="0">
                <a:solidFill>
                  <a:schemeClr val="tx1"/>
                </a:solidFill>
              </a:rPr>
              <a:t>descriptive commits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Architecture</a:t>
            </a:r>
            <a:endParaRPr lang="en-US" sz="3400" dirty="0"/>
          </a:p>
        </p:txBody>
      </p:sp>
      <p:sp>
        <p:nvSpPr>
          <p:cNvPr id="3" name="box Developer"/>
          <p:cNvSpPr/>
          <p:nvPr/>
        </p:nvSpPr>
        <p:spPr>
          <a:xfrm>
            <a:off x="640080" y="1417320"/>
            <a:ext cx="1737360" cy="685800"/>
          </a:xfrm>
          <a:prstGeom prst="roundRect">
            <a:avLst>
              <a:gd name="adj" fmla="val 13333"/>
            </a:avLst>
          </a:prstGeom>
          <a:solidFill>
            <a:schemeClr val="bg1"/>
          </a:solidFill>
          <a:ln w="19050">
            <a:solidFill>
              <a:schemeClr val="accent1"/>
            </a:solidFill>
            <a:prstDash val="solid"/>
          </a:ln>
        </p:spPr>
      </p:sp>
      <p:sp>
        <p:nvSpPr>
          <p:cNvPr id="4" name="box text Developer"/>
          <p:cNvSpPr txBox="1"/>
          <p:nvPr/>
        </p:nvSpPr>
        <p:spPr>
          <a:xfrm>
            <a:off x="640080" y="1417320"/>
            <a:ext cx="173736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Developer</a:t>
            </a:r>
            <a:endParaRPr lang="en-US" sz="1400" dirty="0"/>
          </a:p>
        </p:txBody>
      </p:sp>
      <p:sp>
        <p:nvSpPr>
          <p:cNvPr id="5" name="caption Developer"/>
          <p:cNvSpPr txBox="1"/>
          <p:nvPr/>
        </p:nvSpPr>
        <p:spPr>
          <a:xfrm>
            <a:off x="640080" y="2148840"/>
            <a:ext cx="1737360" cy="274320"/>
          </a:xfrm>
          <a:prstGeom prst="rect">
            <a:avLst/>
          </a:prstGeom>
          <a:noFill/>
          <a:ln/>
        </p:spPr>
        <p:txBody>
          <a:bodyPr wrap="square" lIns="0" tIns="0" rIns="0" bIns="0" rtlCol="0" anchor="ctr"/>
          <a:lstStyle/>
          <a:p>
            <a:pPr algn="ctr" indent="0" marL="0">
              <a:buNone/>
            </a:pPr>
            <a:r>
              <a:rPr lang="en-US" sz="1200" dirty="0">
                <a:solidFill>
                  <a:schemeClr val="accent6"/>
                </a:solidFill>
              </a:rPr>
              <a:t>git push</a:t>
            </a:r>
            <a:endParaRPr lang="en-US" sz="1200" dirty="0"/>
          </a:p>
        </p:txBody>
      </p:sp>
      <p:sp>
        <p:nvSpPr>
          <p:cNvPr id="6" name="arrow"/>
          <p:cNvSpPr/>
          <p:nvPr/>
        </p:nvSpPr>
        <p:spPr>
          <a:xfrm>
            <a:off x="2423160" y="1760220"/>
            <a:ext cx="457200" cy="0"/>
          </a:xfrm>
          <a:prstGeom prst="line">
            <a:avLst/>
          </a:prstGeom>
          <a:noFill/>
          <a:ln w="22225">
            <a:solidFill>
              <a:srgbClr val="64748B"/>
            </a:solidFill>
            <a:prstDash val="solid"/>
            <a:tailEnd type="triangle"/>
          </a:ln>
        </p:spPr>
      </p:sp>
      <p:sp>
        <p:nvSpPr>
          <p:cNvPr id="7" name="box GitHub"/>
          <p:cNvSpPr/>
          <p:nvPr/>
        </p:nvSpPr>
        <p:spPr>
          <a:xfrm>
            <a:off x="2926080" y="1417320"/>
            <a:ext cx="1737360" cy="685800"/>
          </a:xfrm>
          <a:prstGeom prst="roundRect">
            <a:avLst>
              <a:gd name="adj" fmla="val 13333"/>
            </a:avLst>
          </a:prstGeom>
          <a:solidFill>
            <a:schemeClr val="bg1"/>
          </a:solidFill>
          <a:ln w="19050">
            <a:solidFill>
              <a:schemeClr val="accent1"/>
            </a:solidFill>
            <a:prstDash val="solid"/>
          </a:ln>
        </p:spPr>
      </p:sp>
      <p:sp>
        <p:nvSpPr>
          <p:cNvPr id="8" name="box text GitHub"/>
          <p:cNvSpPr txBox="1"/>
          <p:nvPr/>
        </p:nvSpPr>
        <p:spPr>
          <a:xfrm>
            <a:off x="2926080" y="1417320"/>
            <a:ext cx="173736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GitHub</a:t>
            </a:r>
            <a:endParaRPr lang="en-US" sz="1400" dirty="0"/>
          </a:p>
        </p:txBody>
      </p:sp>
      <p:sp>
        <p:nvSpPr>
          <p:cNvPr id="9" name="caption GitHub"/>
          <p:cNvSpPr txBox="1"/>
          <p:nvPr/>
        </p:nvSpPr>
        <p:spPr>
          <a:xfrm>
            <a:off x="2926080" y="2148840"/>
            <a:ext cx="1737360" cy="274320"/>
          </a:xfrm>
          <a:prstGeom prst="rect">
            <a:avLst/>
          </a:prstGeom>
          <a:noFill/>
          <a:ln/>
        </p:spPr>
        <p:txBody>
          <a:bodyPr wrap="square" lIns="0" tIns="0" rIns="0" bIns="0" rtlCol="0" anchor="ctr"/>
          <a:lstStyle/>
          <a:p>
            <a:pPr algn="ctr" indent="0" marL="0">
              <a:buNone/>
            </a:pPr>
            <a:r>
              <a:rPr lang="en-US" sz="1200" dirty="0">
                <a:solidFill>
                  <a:schemeClr val="accent6"/>
                </a:solidFill>
              </a:rPr>
              <a:t>main branch</a:t>
            </a:r>
            <a:endParaRPr lang="en-US" sz="1200" dirty="0"/>
          </a:p>
        </p:txBody>
      </p:sp>
      <p:sp>
        <p:nvSpPr>
          <p:cNvPr id="10" name="arrow"/>
          <p:cNvSpPr/>
          <p:nvPr/>
        </p:nvSpPr>
        <p:spPr>
          <a:xfrm>
            <a:off x="4709160" y="1760220"/>
            <a:ext cx="457200" cy="0"/>
          </a:xfrm>
          <a:prstGeom prst="line">
            <a:avLst/>
          </a:prstGeom>
          <a:noFill/>
          <a:ln w="22225">
            <a:solidFill>
              <a:srgbClr val="64748B"/>
            </a:solidFill>
            <a:prstDash val="solid"/>
            <a:tailEnd type="triangle"/>
          </a:ln>
        </p:spPr>
      </p:sp>
      <p:sp>
        <p:nvSpPr>
          <p:cNvPr id="11" name="box GitHub Actions"/>
          <p:cNvSpPr/>
          <p:nvPr/>
        </p:nvSpPr>
        <p:spPr>
          <a:xfrm>
            <a:off x="5212080" y="1417320"/>
            <a:ext cx="1737360" cy="685800"/>
          </a:xfrm>
          <a:prstGeom prst="roundRect">
            <a:avLst>
              <a:gd name="adj" fmla="val 13333"/>
            </a:avLst>
          </a:prstGeom>
          <a:solidFill>
            <a:schemeClr val="bg1"/>
          </a:solidFill>
          <a:ln w="19050">
            <a:solidFill>
              <a:schemeClr val="accent1"/>
            </a:solidFill>
            <a:prstDash val="solid"/>
          </a:ln>
        </p:spPr>
      </p:sp>
      <p:sp>
        <p:nvSpPr>
          <p:cNvPr id="12" name="box text GitHub Actions"/>
          <p:cNvSpPr txBox="1"/>
          <p:nvPr/>
        </p:nvSpPr>
        <p:spPr>
          <a:xfrm>
            <a:off x="5212080" y="1417320"/>
            <a:ext cx="173736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GitHub Actions</a:t>
            </a:r>
            <a:endParaRPr lang="en-US" sz="1400" dirty="0"/>
          </a:p>
        </p:txBody>
      </p:sp>
      <p:sp>
        <p:nvSpPr>
          <p:cNvPr id="13" name="caption GitHub Actions"/>
          <p:cNvSpPr txBox="1"/>
          <p:nvPr/>
        </p:nvSpPr>
        <p:spPr>
          <a:xfrm>
            <a:off x="5212080" y="2148840"/>
            <a:ext cx="1737360" cy="274320"/>
          </a:xfrm>
          <a:prstGeom prst="rect">
            <a:avLst/>
          </a:prstGeom>
          <a:noFill/>
          <a:ln/>
        </p:spPr>
        <p:txBody>
          <a:bodyPr wrap="square" lIns="0" tIns="0" rIns="0" bIns="0" rtlCol="0" anchor="ctr"/>
          <a:lstStyle/>
          <a:p>
            <a:pPr algn="ctr" indent="0" marL="0">
              <a:buNone/>
            </a:pPr>
            <a:r>
              <a:rPr lang="en-US" sz="1200" dirty="0">
                <a:solidFill>
                  <a:schemeClr val="accent6"/>
                </a:solidFill>
              </a:rPr>
              <a:t>test, build, scan, tag</a:t>
            </a:r>
            <a:endParaRPr lang="en-US" sz="1200" dirty="0"/>
          </a:p>
        </p:txBody>
      </p:sp>
      <p:sp>
        <p:nvSpPr>
          <p:cNvPr id="14" name="arrow"/>
          <p:cNvSpPr/>
          <p:nvPr/>
        </p:nvSpPr>
        <p:spPr>
          <a:xfrm>
            <a:off x="6995160" y="1760220"/>
            <a:ext cx="457200" cy="0"/>
          </a:xfrm>
          <a:prstGeom prst="line">
            <a:avLst/>
          </a:prstGeom>
          <a:noFill/>
          <a:ln w="22225">
            <a:solidFill>
              <a:srgbClr val="64748B"/>
            </a:solidFill>
            <a:prstDash val="solid"/>
            <a:tailEnd type="triangle"/>
          </a:ln>
        </p:spPr>
      </p:sp>
      <p:sp>
        <p:nvSpPr>
          <p:cNvPr id="15" name="box GHCR"/>
          <p:cNvSpPr/>
          <p:nvPr/>
        </p:nvSpPr>
        <p:spPr>
          <a:xfrm>
            <a:off x="7498080" y="1417320"/>
            <a:ext cx="1737360" cy="685800"/>
          </a:xfrm>
          <a:prstGeom prst="roundRect">
            <a:avLst>
              <a:gd name="adj" fmla="val 13333"/>
            </a:avLst>
          </a:prstGeom>
          <a:solidFill>
            <a:schemeClr val="bg1"/>
          </a:solidFill>
          <a:ln w="19050">
            <a:solidFill>
              <a:schemeClr val="accent1"/>
            </a:solidFill>
            <a:prstDash val="solid"/>
          </a:ln>
        </p:spPr>
      </p:sp>
      <p:sp>
        <p:nvSpPr>
          <p:cNvPr id="16" name="box text GHCR"/>
          <p:cNvSpPr txBox="1"/>
          <p:nvPr/>
        </p:nvSpPr>
        <p:spPr>
          <a:xfrm>
            <a:off x="7498080" y="1417320"/>
            <a:ext cx="173736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GHCR</a:t>
            </a:r>
            <a:endParaRPr lang="en-US" sz="1400" dirty="0"/>
          </a:p>
        </p:txBody>
      </p:sp>
      <p:sp>
        <p:nvSpPr>
          <p:cNvPr id="17" name="caption GHCR"/>
          <p:cNvSpPr txBox="1"/>
          <p:nvPr/>
        </p:nvSpPr>
        <p:spPr>
          <a:xfrm>
            <a:off x="7498080" y="2148840"/>
            <a:ext cx="1737360" cy="274320"/>
          </a:xfrm>
          <a:prstGeom prst="rect">
            <a:avLst/>
          </a:prstGeom>
          <a:noFill/>
          <a:ln/>
        </p:spPr>
        <p:txBody>
          <a:bodyPr wrap="square" lIns="0" tIns="0" rIns="0" bIns="0" rtlCol="0" anchor="ctr"/>
          <a:lstStyle/>
          <a:p>
            <a:pPr algn="ctr" indent="0" marL="0">
              <a:buNone/>
            </a:pPr>
            <a:r>
              <a:rPr lang="en-US" sz="1200" dirty="0">
                <a:solidFill>
                  <a:schemeClr val="accent6"/>
                </a:solidFill>
              </a:rPr>
              <a:t>SHA-tagged images</a:t>
            </a:r>
            <a:endParaRPr lang="en-US" sz="1200" dirty="0"/>
          </a:p>
        </p:txBody>
      </p:sp>
      <p:sp>
        <p:nvSpPr>
          <p:cNvPr id="18" name="arrow"/>
          <p:cNvSpPr/>
          <p:nvPr/>
        </p:nvSpPr>
        <p:spPr>
          <a:xfrm>
            <a:off x="9281160" y="1760220"/>
            <a:ext cx="457200" cy="0"/>
          </a:xfrm>
          <a:prstGeom prst="line">
            <a:avLst/>
          </a:prstGeom>
          <a:noFill/>
          <a:ln w="22225">
            <a:solidFill>
              <a:srgbClr val="64748B"/>
            </a:solidFill>
            <a:prstDash val="solid"/>
            <a:tailEnd type="triangle"/>
          </a:ln>
        </p:spPr>
      </p:sp>
      <p:sp>
        <p:nvSpPr>
          <p:cNvPr id="19" name="box ArgoCD"/>
          <p:cNvSpPr/>
          <p:nvPr/>
        </p:nvSpPr>
        <p:spPr>
          <a:xfrm>
            <a:off x="9784080" y="1417320"/>
            <a:ext cx="1737360" cy="685800"/>
          </a:xfrm>
          <a:prstGeom prst="roundRect">
            <a:avLst>
              <a:gd name="adj" fmla="val 13333"/>
            </a:avLst>
          </a:prstGeom>
          <a:solidFill>
            <a:schemeClr val="accent1"/>
          </a:solidFill>
          <a:ln w="19050">
            <a:solidFill>
              <a:schemeClr val="accent1"/>
            </a:solidFill>
            <a:prstDash val="solid"/>
          </a:ln>
        </p:spPr>
      </p:sp>
      <p:sp>
        <p:nvSpPr>
          <p:cNvPr id="20" name="box text ArgoCD"/>
          <p:cNvSpPr txBox="1"/>
          <p:nvPr/>
        </p:nvSpPr>
        <p:spPr>
          <a:xfrm>
            <a:off x="9784080" y="1417320"/>
            <a:ext cx="1737360" cy="685800"/>
          </a:xfrm>
          <a:prstGeom prst="rect">
            <a:avLst/>
          </a:prstGeom>
          <a:noFill/>
          <a:ln/>
        </p:spPr>
        <p:txBody>
          <a:bodyPr wrap="square" lIns="635" tIns="635" rIns="635" bIns="635" rtlCol="0" anchor="ctr"/>
          <a:lstStyle/>
          <a:p>
            <a:pPr algn="ctr" indent="0" marL="0">
              <a:buNone/>
            </a:pPr>
            <a:r>
              <a:rPr lang="en-US" sz="1400" b="1" dirty="0">
                <a:solidFill>
                  <a:schemeClr val="bg1"/>
                </a:solidFill>
              </a:rPr>
              <a:t>ArgoCD</a:t>
            </a:r>
            <a:endParaRPr lang="en-US" sz="1400" dirty="0"/>
          </a:p>
        </p:txBody>
      </p:sp>
      <p:sp>
        <p:nvSpPr>
          <p:cNvPr id="21" name="caption ArgoCD"/>
          <p:cNvSpPr txBox="1"/>
          <p:nvPr/>
        </p:nvSpPr>
        <p:spPr>
          <a:xfrm>
            <a:off x="9784080" y="2148840"/>
            <a:ext cx="1737360" cy="274320"/>
          </a:xfrm>
          <a:prstGeom prst="rect">
            <a:avLst/>
          </a:prstGeom>
          <a:noFill/>
          <a:ln/>
        </p:spPr>
        <p:txBody>
          <a:bodyPr wrap="square" lIns="0" tIns="0" rIns="0" bIns="0" rtlCol="0" anchor="ctr"/>
          <a:lstStyle/>
          <a:p>
            <a:pPr algn="ctr" indent="0" marL="0">
              <a:buNone/>
            </a:pPr>
            <a:r>
              <a:rPr lang="en-US" sz="1200" dirty="0">
                <a:solidFill>
                  <a:schemeClr val="accent6"/>
                </a:solidFill>
              </a:rPr>
              <a:t>syncs from Git</a:t>
            </a:r>
            <a:endParaRPr lang="en-US" sz="1200" dirty="0"/>
          </a:p>
        </p:txBody>
      </p:sp>
      <p:sp>
        <p:nvSpPr>
          <p:cNvPr id="22" name="cluster region"/>
          <p:cNvSpPr/>
          <p:nvPr/>
        </p:nvSpPr>
        <p:spPr>
          <a:xfrm>
            <a:off x="640080" y="2926080"/>
            <a:ext cx="10881360" cy="3246120"/>
          </a:xfrm>
          <a:prstGeom prst="roundRect">
            <a:avLst>
              <a:gd name="adj" fmla="val 3380"/>
            </a:avLst>
          </a:prstGeom>
          <a:solidFill>
            <a:schemeClr val="bg2"/>
          </a:solidFill>
          <a:ln/>
        </p:spPr>
      </p:sp>
      <p:sp>
        <p:nvSpPr>
          <p:cNvPr id="23" name="region label"/>
          <p:cNvSpPr txBox="1"/>
          <p:nvPr/>
        </p:nvSpPr>
        <p:spPr>
          <a:xfrm>
            <a:off x="868680" y="3035808"/>
            <a:ext cx="6583680" cy="320040"/>
          </a:xfrm>
          <a:prstGeom prst="rect">
            <a:avLst/>
          </a:prstGeom>
          <a:noFill/>
          <a:ln/>
        </p:spPr>
        <p:txBody>
          <a:bodyPr wrap="square" lIns="0" tIns="0" rIns="0" bIns="0" rtlCol="0" anchor="ctr"/>
          <a:lstStyle/>
          <a:p>
            <a:pPr indent="0" marL="0">
              <a:buNone/>
            </a:pPr>
            <a:r>
              <a:rPr lang="en-US" sz="1400" b="1" dirty="0">
                <a:solidFill>
                  <a:schemeClr val="accent1"/>
                </a:solidFill>
              </a:rPr>
              <a:t>AWS ap-south-1  ·  EKS cluster in a VPC (2 public + 2 private subnets, NAT)</a:t>
            </a:r>
            <a:endParaRPr lang="en-US" sz="1400" dirty="0"/>
          </a:p>
        </p:txBody>
      </p:sp>
      <p:sp>
        <p:nvSpPr>
          <p:cNvPr id="24" name="terraform label"/>
          <p:cNvSpPr txBox="1"/>
          <p:nvPr/>
        </p:nvSpPr>
        <p:spPr>
          <a:xfrm>
            <a:off x="8595360" y="3035808"/>
            <a:ext cx="2743200" cy="320040"/>
          </a:xfrm>
          <a:prstGeom prst="rect">
            <a:avLst/>
          </a:prstGeom>
          <a:noFill/>
          <a:ln/>
        </p:spPr>
        <p:txBody>
          <a:bodyPr wrap="square" lIns="0" tIns="0" rIns="0" bIns="0" rtlCol="0" anchor="ctr"/>
          <a:lstStyle/>
          <a:p>
            <a:pPr algn="r" indent="0" marL="0">
              <a:buNone/>
            </a:pPr>
            <a:r>
              <a:rPr lang="en-US" sz="1400" b="1" dirty="0">
                <a:solidFill>
                  <a:schemeClr val="accent2"/>
                </a:solidFill>
              </a:rPr>
              <a:t>provisioned by Terraform</a:t>
            </a:r>
            <a:endParaRPr lang="en-US" sz="1400" dirty="0"/>
          </a:p>
        </p:txBody>
      </p:sp>
      <p:sp>
        <p:nvSpPr>
          <p:cNvPr id="25" name="box Ingress nginx"/>
          <p:cNvSpPr/>
          <p:nvPr/>
        </p:nvSpPr>
        <p:spPr>
          <a:xfrm>
            <a:off x="914400" y="4343400"/>
            <a:ext cx="1645920" cy="777240"/>
          </a:xfrm>
          <a:prstGeom prst="roundRect">
            <a:avLst>
              <a:gd name="adj" fmla="val 11765"/>
            </a:avLst>
          </a:prstGeom>
          <a:solidFill>
            <a:schemeClr val="bg1"/>
          </a:solidFill>
          <a:ln w="19050">
            <a:solidFill>
              <a:schemeClr val="accent1"/>
            </a:solidFill>
            <a:prstDash val="solid"/>
          </a:ln>
        </p:spPr>
      </p:sp>
      <p:sp>
        <p:nvSpPr>
          <p:cNvPr id="26" name="box text Ingress nginx"/>
          <p:cNvSpPr txBox="1"/>
          <p:nvPr/>
        </p:nvSpPr>
        <p:spPr>
          <a:xfrm>
            <a:off x="914400" y="4343400"/>
            <a:ext cx="164592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Ingress nginx</a:t>
            </a:r>
            <a:endParaRPr lang="en-US" sz="1400" dirty="0"/>
          </a:p>
        </p:txBody>
      </p:sp>
      <p:sp>
        <p:nvSpPr>
          <p:cNvPr id="27" name="box Backend x2 to 6"/>
          <p:cNvSpPr/>
          <p:nvPr/>
        </p:nvSpPr>
        <p:spPr>
          <a:xfrm>
            <a:off x="3291840" y="3657600"/>
            <a:ext cx="2011680" cy="777240"/>
          </a:xfrm>
          <a:prstGeom prst="roundRect">
            <a:avLst>
              <a:gd name="adj" fmla="val 11765"/>
            </a:avLst>
          </a:prstGeom>
          <a:solidFill>
            <a:schemeClr val="bg1"/>
          </a:solidFill>
          <a:ln w="19050">
            <a:solidFill>
              <a:schemeClr val="accent1"/>
            </a:solidFill>
            <a:prstDash val="solid"/>
          </a:ln>
        </p:spPr>
      </p:sp>
      <p:sp>
        <p:nvSpPr>
          <p:cNvPr id="28" name="box text Backend x2 to 6"/>
          <p:cNvSpPr txBox="1"/>
          <p:nvPr/>
        </p:nvSpPr>
        <p:spPr>
          <a:xfrm>
            <a:off x="3291840" y="3657600"/>
            <a:ext cx="201168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Backend x2 to 6</a:t>
            </a:r>
            <a:endParaRPr lang="en-US" sz="1400" dirty="0"/>
          </a:p>
        </p:txBody>
      </p:sp>
      <p:sp>
        <p:nvSpPr>
          <p:cNvPr id="29" name="box Frontend x2"/>
          <p:cNvSpPr/>
          <p:nvPr/>
        </p:nvSpPr>
        <p:spPr>
          <a:xfrm>
            <a:off x="3291840" y="5029200"/>
            <a:ext cx="2011680" cy="777240"/>
          </a:xfrm>
          <a:prstGeom prst="roundRect">
            <a:avLst>
              <a:gd name="adj" fmla="val 11765"/>
            </a:avLst>
          </a:prstGeom>
          <a:solidFill>
            <a:schemeClr val="bg1"/>
          </a:solidFill>
          <a:ln w="19050">
            <a:solidFill>
              <a:schemeClr val="accent1"/>
            </a:solidFill>
            <a:prstDash val="solid"/>
          </a:ln>
        </p:spPr>
      </p:sp>
      <p:sp>
        <p:nvSpPr>
          <p:cNvPr id="30" name="box text Frontend x2"/>
          <p:cNvSpPr txBox="1"/>
          <p:nvPr/>
        </p:nvSpPr>
        <p:spPr>
          <a:xfrm>
            <a:off x="3291840" y="5029200"/>
            <a:ext cx="201168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Frontend x2</a:t>
            </a:r>
            <a:endParaRPr lang="en-US" sz="1400" dirty="0"/>
          </a:p>
        </p:txBody>
      </p:sp>
      <p:sp>
        <p:nvSpPr>
          <p:cNvPr id="31" name="box PostgreSQL + EBS"/>
          <p:cNvSpPr/>
          <p:nvPr/>
        </p:nvSpPr>
        <p:spPr>
          <a:xfrm>
            <a:off x="6126480" y="5029200"/>
            <a:ext cx="2194560" cy="777240"/>
          </a:xfrm>
          <a:prstGeom prst="roundRect">
            <a:avLst>
              <a:gd name="adj" fmla="val 11765"/>
            </a:avLst>
          </a:prstGeom>
          <a:solidFill>
            <a:schemeClr val="bg1"/>
          </a:solidFill>
          <a:ln w="19050">
            <a:solidFill>
              <a:schemeClr val="accent1"/>
            </a:solidFill>
            <a:prstDash val="solid"/>
          </a:ln>
        </p:spPr>
      </p:sp>
      <p:sp>
        <p:nvSpPr>
          <p:cNvPr id="32" name="box text PostgreSQL + EBS"/>
          <p:cNvSpPr txBox="1"/>
          <p:nvPr/>
        </p:nvSpPr>
        <p:spPr>
          <a:xfrm>
            <a:off x="6126480" y="5029200"/>
            <a:ext cx="219456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PostgreSQL + EBS</a:t>
            </a:r>
            <a:endParaRPr lang="en-US" sz="1400" dirty="0"/>
          </a:p>
        </p:txBody>
      </p:sp>
      <p:sp>
        <p:nvSpPr>
          <p:cNvPr id="33" name="box Prometheus"/>
          <p:cNvSpPr/>
          <p:nvPr/>
        </p:nvSpPr>
        <p:spPr>
          <a:xfrm>
            <a:off x="6126480" y="3657600"/>
            <a:ext cx="2194560" cy="777240"/>
          </a:xfrm>
          <a:prstGeom prst="roundRect">
            <a:avLst>
              <a:gd name="adj" fmla="val 11765"/>
            </a:avLst>
          </a:prstGeom>
          <a:solidFill>
            <a:schemeClr val="bg1"/>
          </a:solidFill>
          <a:ln w="19050">
            <a:solidFill>
              <a:schemeClr val="accent2"/>
            </a:solidFill>
            <a:prstDash val="solid"/>
          </a:ln>
        </p:spPr>
      </p:sp>
      <p:sp>
        <p:nvSpPr>
          <p:cNvPr id="34" name="box text Prometheus"/>
          <p:cNvSpPr txBox="1"/>
          <p:nvPr/>
        </p:nvSpPr>
        <p:spPr>
          <a:xfrm>
            <a:off x="6126480" y="3657600"/>
            <a:ext cx="219456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Prometheus</a:t>
            </a:r>
            <a:endParaRPr lang="en-US" sz="1400" dirty="0"/>
          </a:p>
        </p:txBody>
      </p:sp>
      <p:sp>
        <p:nvSpPr>
          <p:cNvPr id="35" name="box Grafana"/>
          <p:cNvSpPr/>
          <p:nvPr/>
        </p:nvSpPr>
        <p:spPr>
          <a:xfrm>
            <a:off x="9052560" y="3657600"/>
            <a:ext cx="2103120" cy="777240"/>
          </a:xfrm>
          <a:prstGeom prst="roundRect">
            <a:avLst>
              <a:gd name="adj" fmla="val 11765"/>
            </a:avLst>
          </a:prstGeom>
          <a:solidFill>
            <a:schemeClr val="bg1"/>
          </a:solidFill>
          <a:ln w="19050">
            <a:solidFill>
              <a:schemeClr val="accent2"/>
            </a:solidFill>
            <a:prstDash val="solid"/>
          </a:ln>
        </p:spPr>
      </p:sp>
      <p:sp>
        <p:nvSpPr>
          <p:cNvPr id="36" name="box text Grafana"/>
          <p:cNvSpPr txBox="1"/>
          <p:nvPr/>
        </p:nvSpPr>
        <p:spPr>
          <a:xfrm>
            <a:off x="9052560" y="3657600"/>
            <a:ext cx="210312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Grafana</a:t>
            </a:r>
            <a:endParaRPr lang="en-US" sz="1400" dirty="0"/>
          </a:p>
        </p:txBody>
      </p:sp>
      <p:sp>
        <p:nvSpPr>
          <p:cNvPr id="37" name="arrow"/>
          <p:cNvSpPr/>
          <p:nvPr/>
        </p:nvSpPr>
        <p:spPr>
          <a:xfrm flipV="1">
            <a:off x="2560320" y="4069080"/>
            <a:ext cx="685800" cy="502920"/>
          </a:xfrm>
          <a:prstGeom prst="line">
            <a:avLst/>
          </a:prstGeom>
          <a:noFill/>
          <a:ln w="22225">
            <a:solidFill>
              <a:srgbClr val="64748B"/>
            </a:solidFill>
            <a:prstDash val="solid"/>
            <a:tailEnd type="triangle"/>
          </a:ln>
        </p:spPr>
      </p:sp>
      <p:sp>
        <p:nvSpPr>
          <p:cNvPr id="38" name="arrow"/>
          <p:cNvSpPr/>
          <p:nvPr/>
        </p:nvSpPr>
        <p:spPr>
          <a:xfrm>
            <a:off x="2560320" y="4892040"/>
            <a:ext cx="685800" cy="502920"/>
          </a:xfrm>
          <a:prstGeom prst="line">
            <a:avLst/>
          </a:prstGeom>
          <a:noFill/>
          <a:ln w="22225">
            <a:solidFill>
              <a:srgbClr val="64748B"/>
            </a:solidFill>
            <a:prstDash val="solid"/>
            <a:tailEnd type="triangle"/>
          </a:ln>
        </p:spPr>
      </p:sp>
      <p:sp>
        <p:nvSpPr>
          <p:cNvPr id="39" name="arrow"/>
          <p:cNvSpPr/>
          <p:nvPr/>
        </p:nvSpPr>
        <p:spPr>
          <a:xfrm>
            <a:off x="5349240" y="4251960"/>
            <a:ext cx="731520" cy="960120"/>
          </a:xfrm>
          <a:prstGeom prst="line">
            <a:avLst/>
          </a:prstGeom>
          <a:noFill/>
          <a:ln w="22225">
            <a:solidFill>
              <a:srgbClr val="64748B"/>
            </a:solidFill>
            <a:prstDash val="solid"/>
            <a:tailEnd type="triangle"/>
          </a:ln>
        </p:spPr>
      </p:sp>
      <p:sp>
        <p:nvSpPr>
          <p:cNvPr id="40" name="arrow"/>
          <p:cNvSpPr/>
          <p:nvPr/>
        </p:nvSpPr>
        <p:spPr>
          <a:xfrm flipH="1">
            <a:off x="5349240" y="4041648"/>
            <a:ext cx="731520" cy="0"/>
          </a:xfrm>
          <a:prstGeom prst="line">
            <a:avLst/>
          </a:prstGeom>
          <a:noFill/>
          <a:ln w="22225">
            <a:solidFill>
              <a:srgbClr val="F59E0B"/>
            </a:solidFill>
            <a:prstDash val="solid"/>
            <a:tailEnd type="triangle"/>
          </a:ln>
        </p:spPr>
      </p:sp>
      <p:sp>
        <p:nvSpPr>
          <p:cNvPr id="41" name="arrow"/>
          <p:cNvSpPr/>
          <p:nvPr/>
        </p:nvSpPr>
        <p:spPr>
          <a:xfrm flipH="1">
            <a:off x="8366760" y="4041648"/>
            <a:ext cx="640080" cy="0"/>
          </a:xfrm>
          <a:prstGeom prst="line">
            <a:avLst/>
          </a:prstGeom>
          <a:noFill/>
          <a:ln w="22225">
            <a:solidFill>
              <a:srgbClr val="F59E0B"/>
            </a:solidFill>
            <a:prstDash val="solid"/>
            <a:tailEnd type="triangle"/>
          </a:ln>
        </p:spPr>
      </p:sp>
      <p:sp>
        <p:nvSpPr>
          <p:cNvPr id="42" name="scrape label"/>
          <p:cNvSpPr txBox="1"/>
          <p:nvPr/>
        </p:nvSpPr>
        <p:spPr>
          <a:xfrm>
            <a:off x="5303520" y="3401568"/>
            <a:ext cx="1737360" cy="256032"/>
          </a:xfrm>
          <a:prstGeom prst="rect">
            <a:avLst/>
          </a:prstGeom>
          <a:noFill/>
          <a:ln/>
        </p:spPr>
        <p:txBody>
          <a:bodyPr wrap="square" lIns="0" tIns="0" rIns="0" bIns="0" rtlCol="0" anchor="ctr"/>
          <a:lstStyle/>
          <a:p>
            <a:pPr indent="0" marL="0">
              <a:buNone/>
            </a:pPr>
            <a:r>
              <a:rPr lang="en-US" sz="1100" dirty="0">
                <a:solidFill>
                  <a:schemeClr val="accent6"/>
                </a:solidFill>
              </a:rPr>
              <a:t>scrapes /metrics</a:t>
            </a:r>
            <a:endParaRPr lang="en-US" sz="1100" dirty="0"/>
          </a:p>
        </p:txBody>
      </p:sp>
      <p:sp>
        <p:nvSpPr>
          <p:cNvPr id="43" name="arrow"/>
          <p:cNvSpPr/>
          <p:nvPr/>
        </p:nvSpPr>
        <p:spPr>
          <a:xfrm>
            <a:off x="10652760" y="2468880"/>
            <a:ext cx="0" cy="411480"/>
          </a:xfrm>
          <a:prstGeom prst="line">
            <a:avLst/>
          </a:prstGeom>
          <a:noFill/>
          <a:ln w="22225">
            <a:solidFill>
              <a:srgbClr val="64748B"/>
            </a:solidFill>
            <a:prstDash val="solid"/>
            <a:tailEnd type="triangle"/>
          </a:ln>
        </p:spPr>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The application</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M1  ·  App  ·  10 pts</a:t>
            </a:r>
            <a:endParaRPr lang="en-US" sz="1400" dirty="0"/>
          </a:p>
        </p:txBody>
      </p:sp>
      <p:pic>
        <p:nvPicPr>
          <p:cNvPr id="5" name="app screenshot" descr="Docker Compose stack at localhost:3000">    </p:cNvPr>
          <p:cNvPicPr>
            <a:picLocks noChangeAspect="1"/>
          </p:cNvPicPr>
          <p:nvPr/>
        </p:nvPicPr>
        <p:blipFill>
          <a:blip r:embed="rId1"/>
          <a:stretch>
            <a:fillRect/>
          </a:stretch>
        </p:blipFill>
        <p:spPr>
          <a:xfrm>
            <a:off x="548640" y="1721224"/>
            <a:ext cx="6583680" cy="3872753"/>
          </a:xfrm>
          <a:prstGeom prst="rect">
            <a:avLst/>
          </a:prstGeom>
          <a:effectLst>
            <a:outerShdw sx="100000" sy="100000" kx="0" ky="0" algn="bl" rotWithShape="0" blurRad="76200" dist="25400" dir="5400000">
              <a:srgbClr val="000000">
                <a:alpha val="18000"/>
              </a:srgbClr>
            </a:outerShdw>
          </a:effectLst>
        </p:spPr>
      </p:pic>
      <p:sp>
        <p:nvSpPr>
          <p:cNvPr id="6" name="app screenshot border"/>
          <p:cNvSpPr/>
          <p:nvPr/>
        </p:nvSpPr>
        <p:spPr>
          <a:xfrm>
            <a:off x="548640" y="1721224"/>
            <a:ext cx="6583680" cy="3872753"/>
          </a:xfrm>
          <a:prstGeom prst="rect">
            <a:avLst/>
          </a:prstGeom>
          <a:ln w="9525">
            <a:solidFill>
              <a:srgbClr val="CBD5E1"/>
            </a:solidFill>
            <a:prstDash val="solid"/>
          </a:ln>
        </p:spPr>
      </p:sp>
      <p:sp>
        <p:nvSpPr>
          <p:cNvPr id="7" name="app screenshot caption"/>
          <p:cNvSpPr txBox="1"/>
          <p:nvPr/>
        </p:nvSpPr>
        <p:spPr>
          <a:xfrm>
            <a:off x="548640" y="5639696"/>
            <a:ext cx="6583680" cy="274320"/>
          </a:xfrm>
          <a:prstGeom prst="rect">
            <a:avLst/>
          </a:prstGeom>
          <a:noFill/>
          <a:ln/>
        </p:spPr>
        <p:txBody>
          <a:bodyPr wrap="square" lIns="0" tIns="0" rIns="0" bIns="0" rtlCol="0" anchor="ctr"/>
          <a:lstStyle/>
          <a:p>
            <a:pPr algn="l" indent="0" marL="0">
              <a:buNone/>
            </a:pPr>
            <a:r>
              <a:rPr lang="en-US" sz="1200" dirty="0">
                <a:solidFill>
                  <a:schemeClr val="accent6"/>
                </a:solidFill>
              </a:rPr>
              <a:t>Docker Compose stack at localhost:3000</a:t>
            </a:r>
            <a:endParaRPr lang="en-US" sz="1200" dirty="0"/>
          </a:p>
        </p:txBody>
      </p:sp>
      <p:sp>
        <p:nvSpPr>
          <p:cNvPr id="8" name="bullets"/>
          <p:cNvSpPr txBox="1"/>
          <p:nvPr/>
        </p:nvSpPr>
        <p:spPr>
          <a:xfrm>
            <a:off x="7406640" y="1463040"/>
            <a:ext cx="4297680" cy="448056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React + Vite UI:</a:t>
            </a:r>
            <a:pPr indent="0" marL="0">
              <a:buNone/>
            </a:pPr>
            <a:r>
              <a:rPr lang="en-US" sz="1700" dirty="0">
                <a:solidFill>
                  <a:schemeClr val="tx1"/>
                </a:solidFill>
              </a:rPr>
              <a:t> KPI cards, status filters, booking modal, responsive layout.</a:t>
            </a:r>
            <a:endParaRPr lang="en-US" sz="1700" dirty="0"/>
          </a:p>
          <a:p>
            <a:pPr marL="228600" indent="-228600">
              <a:spcAft>
                <a:spcPts val="1000"/>
              </a:spcAft>
              <a:buSzPct val="100000"/>
              <a:buChar char="•"/>
            </a:pPr>
            <a:r>
              <a:rPr lang="en-US" sz="1700" b="1" dirty="0">
                <a:solidFill>
                  <a:schemeClr val="tx1"/>
                </a:solidFill>
              </a:rPr>
              <a:t>FastAPI:</a:t>
            </a:r>
            <a:pPr indent="0" marL="0">
              <a:buNone/>
            </a:pPr>
            <a:r>
              <a:rPr lang="en-US" sz="1700" dirty="0">
                <a:solidFill>
                  <a:schemeClr val="tx1"/>
                </a:solidFill>
              </a:rPr>
              <a:t> 12 endpoints; Swagger at /docs; /health, /ready, /metrics.</a:t>
            </a:r>
            <a:endParaRPr lang="en-US" sz="1700" dirty="0"/>
          </a:p>
          <a:p>
            <a:pPr marL="228600" indent="-228600">
              <a:spcAft>
                <a:spcPts val="1000"/>
              </a:spcAft>
              <a:buSzPct val="100000"/>
              <a:buChar char="•"/>
            </a:pPr>
            <a:r>
              <a:rPr lang="en-US" sz="1700" b="1" dirty="0">
                <a:solidFill>
                  <a:schemeClr val="tx1"/>
                </a:solidFill>
              </a:rPr>
              <a:t>Alembic:</a:t>
            </a:r>
            <a:pPr indent="0" marL="0">
              <a:buNone/>
            </a:pPr>
            <a:r>
              <a:rPr lang="en-US" sz="1700" dirty="0">
                <a:solidFill>
                  <a:schemeClr val="tx1"/>
                </a:solidFill>
              </a:rPr>
              <a:t> schema migration plus a seed migration for doctors.</a:t>
            </a:r>
            <a:endParaRPr lang="en-US" sz="1700" dirty="0"/>
          </a:p>
          <a:p>
            <a:pPr marL="228600" indent="-228600">
              <a:spcAft>
                <a:spcPts val="1000"/>
              </a:spcAft>
              <a:buSzPct val="100000"/>
              <a:buChar char="•"/>
            </a:pPr>
            <a:r>
              <a:rPr lang="en-US" sz="1700" b="1" dirty="0">
                <a:solidFill>
                  <a:schemeClr val="tx1"/>
                </a:solidFill>
              </a:rPr>
              <a:t>Conflict guard:</a:t>
            </a:r>
            <a:pPr indent="0" marL="0">
              <a:buNone/>
            </a:pPr>
            <a:r>
              <a:rPr lang="en-US" sz="1700" dirty="0">
                <a:solidFill>
                  <a:schemeClr val="tx1"/>
                </a:solidFill>
              </a:rPr>
              <a:t> double-booking a doctor's slot returns 409.</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Automated tests</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M2  ·  Testing  ·  10 pts</a:t>
            </a:r>
            <a:endParaRPr lang="en-US" sz="1400" dirty="0"/>
          </a:p>
        </p:txBody>
      </p:sp>
      <p:pic>
        <p:nvPicPr>
          <p:cNvPr id="5" name="pytest screenshot" descr="pytest -v: 15 passed">    </p:cNvPr>
          <p:cNvPicPr>
            <a:picLocks noChangeAspect="1"/>
          </p:cNvPicPr>
          <p:nvPr/>
        </p:nvPicPr>
        <p:blipFill>
          <a:blip r:embed="rId1"/>
          <a:stretch>
            <a:fillRect/>
          </a:stretch>
        </p:blipFill>
        <p:spPr>
          <a:xfrm>
            <a:off x="548640" y="1691592"/>
            <a:ext cx="6766560" cy="2468976"/>
          </a:xfrm>
          <a:prstGeom prst="rect">
            <a:avLst/>
          </a:prstGeom>
          <a:effectLst>
            <a:outerShdw sx="100000" sy="100000" kx="0" ky="0" algn="bl" rotWithShape="0" blurRad="76200" dist="25400" dir="5400000">
              <a:srgbClr val="000000">
                <a:alpha val="18000"/>
              </a:srgbClr>
            </a:outerShdw>
          </a:effectLst>
        </p:spPr>
      </p:pic>
      <p:sp>
        <p:nvSpPr>
          <p:cNvPr id="6" name="pytest screenshot border"/>
          <p:cNvSpPr/>
          <p:nvPr/>
        </p:nvSpPr>
        <p:spPr>
          <a:xfrm>
            <a:off x="548640" y="1691592"/>
            <a:ext cx="6766560" cy="2468976"/>
          </a:xfrm>
          <a:prstGeom prst="rect">
            <a:avLst/>
          </a:prstGeom>
          <a:ln w="9525">
            <a:solidFill>
              <a:srgbClr val="CBD5E1"/>
            </a:solidFill>
            <a:prstDash val="solid"/>
          </a:ln>
        </p:spPr>
      </p:sp>
      <p:sp>
        <p:nvSpPr>
          <p:cNvPr id="7" name="pytest screenshot caption"/>
          <p:cNvSpPr txBox="1"/>
          <p:nvPr/>
        </p:nvSpPr>
        <p:spPr>
          <a:xfrm>
            <a:off x="548640" y="4206288"/>
            <a:ext cx="6766560" cy="274320"/>
          </a:xfrm>
          <a:prstGeom prst="rect">
            <a:avLst/>
          </a:prstGeom>
          <a:noFill/>
          <a:ln/>
        </p:spPr>
        <p:txBody>
          <a:bodyPr wrap="square" lIns="0" tIns="0" rIns="0" bIns="0" rtlCol="0" anchor="ctr"/>
          <a:lstStyle/>
          <a:p>
            <a:pPr algn="l" indent="0" marL="0">
              <a:buNone/>
            </a:pPr>
            <a:r>
              <a:rPr lang="en-US" sz="1200" dirty="0">
                <a:solidFill>
                  <a:schemeClr val="accent6"/>
                </a:solidFill>
              </a:rPr>
              <a:t>pytest -v: 15 passed</a:t>
            </a:r>
            <a:endParaRPr lang="en-US" sz="1200" dirty="0"/>
          </a:p>
        </p:txBody>
      </p:sp>
      <p:sp>
        <p:nvSpPr>
          <p:cNvPr id="8" name="bullets"/>
          <p:cNvSpPr txBox="1"/>
          <p:nvPr/>
        </p:nvSpPr>
        <p:spPr>
          <a:xfrm>
            <a:off x="7589520" y="1463040"/>
            <a:ext cx="4114800" cy="420624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15 tests</a:t>
            </a:r>
            <a:pPr indent="0" marL="0">
              <a:buNone/>
            </a:pPr>
            <a:r>
              <a:rPr lang="en-US" sz="1700" dirty="0">
                <a:solidFill>
                  <a:schemeClr val="tx1"/>
                </a:solidFill>
              </a:rPr>
              <a:t> covering health, readiness, metrics, doctors and every appointment endpoint.</a:t>
            </a:r>
            <a:endParaRPr lang="en-US" sz="1700" dirty="0"/>
          </a:p>
          <a:p>
            <a:pPr marL="228600" indent="-228600">
              <a:spcAft>
                <a:spcPts val="1000"/>
              </a:spcAft>
              <a:buSzPct val="100000"/>
              <a:buChar char="•"/>
            </a:pPr>
            <a:r>
              <a:rPr lang="en-US" sz="1700" b="1" dirty="0">
                <a:solidFill>
                  <a:schemeClr val="tx1"/>
                </a:solidFill>
              </a:rPr>
              <a:t>Isolated:</a:t>
            </a:r>
            <a:pPr indent="0" marL="0">
              <a:buNone/>
            </a:pPr>
            <a:r>
              <a:rPr lang="en-US" sz="1700" dirty="0">
                <a:solidFill>
                  <a:schemeClr val="tx1"/>
                </a:solidFill>
              </a:rPr>
              <a:t> in-memory SQLite through a FastAPI dependency override, never the real database.</a:t>
            </a:r>
            <a:endParaRPr lang="en-US" sz="1700" dirty="0"/>
          </a:p>
          <a:p>
            <a:pPr marL="228600" indent="-228600">
              <a:spcAft>
                <a:spcPts val="1000"/>
              </a:spcAft>
              <a:buSzPct val="100000"/>
              <a:buChar char="•"/>
            </a:pPr>
            <a:r>
              <a:rPr lang="en-US" sz="1700" b="1" dirty="0">
                <a:solidFill>
                  <a:schemeClr val="tx1"/>
                </a:solidFill>
              </a:rPr>
              <a:t>Configured:</a:t>
            </a:r>
            <a:pPr indent="0" marL="0">
              <a:buNone/>
            </a:pPr>
            <a:r>
              <a:rPr lang="en-US" sz="1700" dirty="0">
                <a:solidFill>
                  <a:schemeClr val="tx1"/>
                </a:solidFill>
              </a:rPr>
              <a:t> pytest.ini and conftest.py.</a:t>
            </a:r>
            <a:endParaRPr lang="en-US" sz="1700" dirty="0"/>
          </a:p>
        </p:txBody>
      </p:sp>
      <p:sp>
        <p:nvSpPr>
          <p:cNvPr id="9" name="gate card"/>
          <p:cNvSpPr/>
          <p:nvPr/>
        </p:nvSpPr>
        <p:spPr>
          <a:xfrm>
            <a:off x="548640" y="4983480"/>
            <a:ext cx="6766560" cy="1005840"/>
          </a:xfrm>
          <a:prstGeom prst="roundRect">
            <a:avLst>
              <a:gd name="adj" fmla="val 10909"/>
            </a:avLst>
          </a:prstGeom>
          <a:solidFill>
            <a:schemeClr val="bg2"/>
          </a:solidFill>
          <a:ln/>
        </p:spPr>
      </p:sp>
      <p:sp>
        <p:nvSpPr>
          <p:cNvPr id="10" name="gate text"/>
          <p:cNvSpPr txBox="1"/>
          <p:nvPr/>
        </p:nvSpPr>
        <p:spPr>
          <a:xfrm>
            <a:off x="777240" y="4983480"/>
            <a:ext cx="6309360" cy="1005840"/>
          </a:xfrm>
          <a:prstGeom prst="rect">
            <a:avLst/>
          </a:prstGeom>
          <a:noFill/>
          <a:ln/>
        </p:spPr>
        <p:txBody>
          <a:bodyPr wrap="square" lIns="0" tIns="0" rIns="0" bIns="0" rtlCol="0" anchor="ctr"/>
          <a:lstStyle/>
          <a:p>
            <a:pPr indent="0" marL="0">
              <a:buNone/>
            </a:pPr>
            <a:r>
              <a:rPr lang="en-US" sz="1700" b="1" dirty="0">
                <a:solidFill>
                  <a:schemeClr val="tx1"/>
                </a:solidFill>
              </a:rPr>
              <a:t>First quality gate: </a:t>
            </a:r>
            <a:pPr indent="0" marL="0">
              <a:buNone/>
            </a:pPr>
            <a:r>
              <a:rPr lang="en-US" sz="1700" dirty="0">
                <a:solidFill>
                  <a:schemeClr val="tx1"/>
                </a:solidFill>
              </a:rPr>
              <a:t>failing tests stop the pipeline, so no broken image is ever built or pushed.</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Git and GitHub</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M3  ·  Git  ·  5 pts</a:t>
            </a:r>
            <a:endParaRPr lang="en-US" sz="1400" dirty="0"/>
          </a:p>
        </p:txBody>
      </p:sp>
      <p:pic>
        <p:nvPicPr>
          <p:cNvPr id="5" name="commit history" descr="commit history">    </p:cNvPr>
          <p:cNvPicPr>
            <a:picLocks noChangeAspect="1"/>
          </p:cNvPicPr>
          <p:nvPr/>
        </p:nvPicPr>
        <p:blipFill>
          <a:blip r:embed="rId1"/>
          <a:stretch>
            <a:fillRect/>
          </a:stretch>
        </p:blipFill>
        <p:spPr>
          <a:xfrm>
            <a:off x="608301" y="1325880"/>
            <a:ext cx="3812598" cy="4937760"/>
          </a:xfrm>
          <a:prstGeom prst="rect">
            <a:avLst/>
          </a:prstGeom>
          <a:effectLst>
            <a:outerShdw sx="100000" sy="100000" kx="0" ky="0" algn="bl" rotWithShape="0" blurRad="76200" dist="25400" dir="5400000">
              <a:srgbClr val="000000">
                <a:alpha val="18000"/>
              </a:srgbClr>
            </a:outerShdw>
          </a:effectLst>
        </p:spPr>
      </p:pic>
      <p:sp>
        <p:nvSpPr>
          <p:cNvPr id="6" name="commit history border"/>
          <p:cNvSpPr/>
          <p:nvPr/>
        </p:nvSpPr>
        <p:spPr>
          <a:xfrm>
            <a:off x="608301" y="1325880"/>
            <a:ext cx="3812598" cy="4937760"/>
          </a:xfrm>
          <a:prstGeom prst="rect">
            <a:avLst/>
          </a:prstGeom>
          <a:ln w="9525">
            <a:solidFill>
              <a:srgbClr val="CBD5E1"/>
            </a:solidFill>
            <a:prstDash val="solid"/>
          </a:ln>
        </p:spPr>
      </p:sp>
      <p:sp>
        <p:nvSpPr>
          <p:cNvPr id="7" name="stat card commits, Oct 8 to Oct 16"/>
          <p:cNvSpPr/>
          <p:nvPr/>
        </p:nvSpPr>
        <p:spPr>
          <a:xfrm>
            <a:off x="5120640" y="1463040"/>
            <a:ext cx="2926080" cy="1828800"/>
          </a:xfrm>
          <a:prstGeom prst="roundRect">
            <a:avLst>
              <a:gd name="adj" fmla="val 6000"/>
            </a:avLst>
          </a:prstGeom>
          <a:solidFill>
            <a:schemeClr val="bg2"/>
          </a:solidFill>
          <a:ln/>
        </p:spPr>
      </p:sp>
      <p:sp>
        <p:nvSpPr>
          <p:cNvPr id="8" name="stat commits, Oct 8 to Oct 16"/>
          <p:cNvSpPr txBox="1"/>
          <p:nvPr/>
        </p:nvSpPr>
        <p:spPr>
          <a:xfrm>
            <a:off x="5257800" y="1572768"/>
            <a:ext cx="2651760" cy="1005840"/>
          </a:xfrm>
          <a:prstGeom prst="rect">
            <a:avLst/>
          </a:prstGeom>
          <a:noFill/>
          <a:ln/>
        </p:spPr>
        <p:txBody>
          <a:bodyPr wrap="square" lIns="0" tIns="0" rIns="0" bIns="0" rtlCol="0" anchor="ctr"/>
          <a:lstStyle/>
          <a:p>
            <a:pPr algn="l" indent="0" marL="0">
              <a:buNone/>
            </a:pPr>
            <a:r>
              <a:rPr lang="en-US" sz="4400" b="1" dirty="0">
                <a:solidFill>
                  <a:schemeClr val="accent1"/>
                </a:solidFill>
                <a:latin typeface="Cambria" pitchFamily="34" charset="0"/>
                <a:ea typeface="Cambria" pitchFamily="34" charset="-122"/>
                <a:cs typeface="Cambria" pitchFamily="34" charset="-120"/>
              </a:rPr>
              <a:t>20+</a:t>
            </a:r>
            <a:endParaRPr lang="en-US" sz="4400" dirty="0"/>
          </a:p>
        </p:txBody>
      </p:sp>
      <p:sp>
        <p:nvSpPr>
          <p:cNvPr id="9" name="stat label commits, Oct 8 to Oct 16"/>
          <p:cNvSpPr txBox="1"/>
          <p:nvPr/>
        </p:nvSpPr>
        <p:spPr>
          <a:xfrm>
            <a:off x="5257800" y="2596896"/>
            <a:ext cx="2651760" cy="548640"/>
          </a:xfrm>
          <a:prstGeom prst="rect">
            <a:avLst/>
          </a:prstGeom>
          <a:noFill/>
          <a:ln/>
        </p:spPr>
        <p:txBody>
          <a:bodyPr wrap="square" lIns="0" tIns="0" rIns="0" bIns="0" rtlCol="0" anchor="t"/>
          <a:lstStyle/>
          <a:p>
            <a:pPr algn="l" indent="0" marL="0">
              <a:buNone/>
            </a:pPr>
            <a:r>
              <a:rPr lang="en-US" sz="1400" dirty="0">
                <a:solidFill>
                  <a:schemeClr val="tx1"/>
                </a:solidFill>
              </a:rPr>
              <a:t>commits, Oct 8 to Oct 16</a:t>
            </a:r>
            <a:endParaRPr lang="en-US" sz="1400" dirty="0"/>
          </a:p>
        </p:txBody>
      </p:sp>
      <p:sp>
        <p:nvSpPr>
          <p:cNvPr id="10" name="stat card secrets in the history"/>
          <p:cNvSpPr/>
          <p:nvPr/>
        </p:nvSpPr>
        <p:spPr>
          <a:xfrm>
            <a:off x="8321040" y="1463040"/>
            <a:ext cx="3291840" cy="1828800"/>
          </a:xfrm>
          <a:prstGeom prst="roundRect">
            <a:avLst>
              <a:gd name="adj" fmla="val 6000"/>
            </a:avLst>
          </a:prstGeom>
          <a:solidFill>
            <a:schemeClr val="bg2"/>
          </a:solidFill>
          <a:ln/>
        </p:spPr>
      </p:sp>
      <p:sp>
        <p:nvSpPr>
          <p:cNvPr id="11" name="stat secrets in the history"/>
          <p:cNvSpPr txBox="1"/>
          <p:nvPr/>
        </p:nvSpPr>
        <p:spPr>
          <a:xfrm>
            <a:off x="8458200" y="1572768"/>
            <a:ext cx="3017520" cy="1005840"/>
          </a:xfrm>
          <a:prstGeom prst="rect">
            <a:avLst/>
          </a:prstGeom>
          <a:noFill/>
          <a:ln/>
        </p:spPr>
        <p:txBody>
          <a:bodyPr wrap="square" lIns="0" tIns="0" rIns="0" bIns="0" rtlCol="0" anchor="ctr"/>
          <a:lstStyle/>
          <a:p>
            <a:pPr algn="l" indent="0" marL="0">
              <a:buNone/>
            </a:pPr>
            <a:r>
              <a:rPr lang="en-US" sz="4400" b="1" dirty="0">
                <a:solidFill>
                  <a:schemeClr val="accent5"/>
                </a:solidFill>
                <a:latin typeface="Cambria" pitchFamily="34" charset="0"/>
                <a:ea typeface="Cambria" pitchFamily="34" charset="-122"/>
                <a:cs typeface="Cambria" pitchFamily="34" charset="-120"/>
              </a:rPr>
              <a:t>0</a:t>
            </a:r>
            <a:endParaRPr lang="en-US" sz="4400" dirty="0"/>
          </a:p>
        </p:txBody>
      </p:sp>
      <p:sp>
        <p:nvSpPr>
          <p:cNvPr id="12" name="stat label secrets in the history"/>
          <p:cNvSpPr txBox="1"/>
          <p:nvPr/>
        </p:nvSpPr>
        <p:spPr>
          <a:xfrm>
            <a:off x="8458200" y="2596896"/>
            <a:ext cx="3017520" cy="548640"/>
          </a:xfrm>
          <a:prstGeom prst="rect">
            <a:avLst/>
          </a:prstGeom>
          <a:noFill/>
          <a:ln/>
        </p:spPr>
        <p:txBody>
          <a:bodyPr wrap="square" lIns="0" tIns="0" rIns="0" bIns="0" rtlCol="0" anchor="t"/>
          <a:lstStyle/>
          <a:p>
            <a:pPr algn="l" indent="0" marL="0">
              <a:buNone/>
            </a:pPr>
            <a:r>
              <a:rPr lang="en-US" sz="1400" dirty="0">
                <a:solidFill>
                  <a:schemeClr val="tx1"/>
                </a:solidFill>
              </a:rPr>
              <a:t>secrets in the history</a:t>
            </a:r>
            <a:endParaRPr lang="en-US" sz="1400" dirty="0"/>
          </a:p>
        </p:txBody>
      </p:sp>
      <p:sp>
        <p:nvSpPr>
          <p:cNvPr id="13" name="bullets"/>
          <p:cNvSpPr txBox="1"/>
          <p:nvPr/>
        </p:nvSpPr>
        <p:spPr>
          <a:xfrm>
            <a:off x="5120640" y="3657600"/>
            <a:ext cx="6492240" cy="256032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Messages:</a:t>
            </a:r>
            <a:pPr indent="0" marL="0">
              <a:buNone/>
            </a:pPr>
            <a:r>
              <a:rPr lang="en-US" sz="1700" dirty="0">
                <a:solidFill>
                  <a:schemeClr val="tx1"/>
                </a:solidFill>
              </a:rPr>
              <a:t> short and descriptive, one per feature or fix.</a:t>
            </a:r>
            <a:endParaRPr lang="en-US" sz="1700" dirty="0"/>
          </a:p>
          <a:p>
            <a:pPr marL="228600" indent="-228600">
              <a:spcAft>
                <a:spcPts val="1000"/>
              </a:spcAft>
              <a:buSzPct val="100000"/>
              <a:buChar char="•"/>
            </a:pPr>
            <a:r>
              <a:rPr lang="en-US" sz="1700" b="1" dirty="0">
                <a:solidFill>
                  <a:schemeClr val="tx1"/>
                </a:solidFill>
              </a:rPr>
              <a:t>.gitignore</a:t>
            </a:r>
            <a:pPr indent="0" marL="0">
              <a:buNone/>
            </a:pPr>
            <a:r>
              <a:rPr lang="en-US" sz="1700" dirty="0">
                <a:solidFill>
                  <a:schemeClr val="tx1"/>
                </a:solidFill>
              </a:rPr>
              <a:t> covers .env, __pycache__, node_modules, .venv, Terraform state and plans.</a:t>
            </a:r>
            <a:endParaRPr lang="en-US" sz="1700" dirty="0"/>
          </a:p>
          <a:p>
            <a:pPr marL="228600" indent="-228600">
              <a:spcAft>
                <a:spcPts val="1000"/>
              </a:spcAft>
              <a:buSzPct val="100000"/>
              <a:buChar char="•"/>
            </a:pPr>
            <a:r>
              <a:rPr lang="en-US" sz="1700" b="1" dirty="0">
                <a:solidFill>
                  <a:schemeClr val="tx1"/>
                </a:solidFill>
              </a:rPr>
              <a:t>Public repo:</a:t>
            </a:r>
            <a:pPr indent="0" marL="0">
              <a:buNone/>
            </a:pPr>
            <a:r>
              <a:rPr lang="en-US" sz="1700" dirty="0">
                <a:solidFill>
                  <a:schemeClr val="tx1"/>
                </a:solidFill>
              </a:rPr>
              <a:t> github.com/Aryan-Bhendarkar/ClinicQ</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Docker and Compose</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M4  ·  Docker  ·  10 pts</a:t>
            </a:r>
            <a:endParaRPr lang="en-US" sz="1400" dirty="0"/>
          </a:p>
        </p:txBody>
      </p:sp>
      <p:pic>
        <p:nvPicPr>
          <p:cNvPr id="5" name="compose output" descr="docker compose up --build">    </p:cNvPr>
          <p:cNvPicPr>
            <a:picLocks noChangeAspect="1"/>
          </p:cNvPicPr>
          <p:nvPr/>
        </p:nvPicPr>
        <p:blipFill>
          <a:blip r:embed="rId1"/>
          <a:stretch>
            <a:fillRect/>
          </a:stretch>
        </p:blipFill>
        <p:spPr>
          <a:xfrm>
            <a:off x="548640" y="1475132"/>
            <a:ext cx="6035040" cy="4456376"/>
          </a:xfrm>
          <a:prstGeom prst="rect">
            <a:avLst/>
          </a:prstGeom>
          <a:effectLst>
            <a:outerShdw sx="100000" sy="100000" kx="0" ky="0" algn="bl" rotWithShape="0" blurRad="76200" dist="25400" dir="5400000">
              <a:srgbClr val="000000">
                <a:alpha val="18000"/>
              </a:srgbClr>
            </a:outerShdw>
          </a:effectLst>
        </p:spPr>
      </p:pic>
      <p:sp>
        <p:nvSpPr>
          <p:cNvPr id="6" name="compose output border"/>
          <p:cNvSpPr/>
          <p:nvPr/>
        </p:nvSpPr>
        <p:spPr>
          <a:xfrm>
            <a:off x="548640" y="1475132"/>
            <a:ext cx="6035040" cy="4456376"/>
          </a:xfrm>
          <a:prstGeom prst="rect">
            <a:avLst/>
          </a:prstGeom>
          <a:ln w="9525">
            <a:solidFill>
              <a:srgbClr val="CBD5E1"/>
            </a:solidFill>
            <a:prstDash val="solid"/>
          </a:ln>
        </p:spPr>
      </p:sp>
      <p:sp>
        <p:nvSpPr>
          <p:cNvPr id="7" name="compose output caption"/>
          <p:cNvSpPr txBox="1"/>
          <p:nvPr/>
        </p:nvSpPr>
        <p:spPr>
          <a:xfrm>
            <a:off x="548640" y="5977228"/>
            <a:ext cx="6035040" cy="274320"/>
          </a:xfrm>
          <a:prstGeom prst="rect">
            <a:avLst/>
          </a:prstGeom>
          <a:noFill/>
          <a:ln/>
        </p:spPr>
        <p:txBody>
          <a:bodyPr wrap="square" lIns="0" tIns="0" rIns="0" bIns="0" rtlCol="0" anchor="ctr"/>
          <a:lstStyle/>
          <a:p>
            <a:pPr algn="l" indent="0" marL="0">
              <a:buNone/>
            </a:pPr>
            <a:r>
              <a:rPr lang="en-US" sz="1200" dirty="0">
                <a:solidFill>
                  <a:schemeClr val="accent6"/>
                </a:solidFill>
              </a:rPr>
              <a:t>docker compose up --build</a:t>
            </a:r>
            <a:endParaRPr lang="en-US" sz="1200" dirty="0"/>
          </a:p>
        </p:txBody>
      </p:sp>
      <p:sp>
        <p:nvSpPr>
          <p:cNvPr id="8" name="bullets"/>
          <p:cNvSpPr txBox="1"/>
          <p:nvPr/>
        </p:nvSpPr>
        <p:spPr>
          <a:xfrm>
            <a:off x="6858000" y="1463040"/>
            <a:ext cx="4846320" cy="3291840"/>
          </a:xfrm>
          <a:prstGeom prst="rect">
            <a:avLst/>
          </a:prstGeom>
          <a:noFill/>
          <a:ln/>
        </p:spPr>
        <p:txBody>
          <a:bodyPr wrap="square" lIns="0" tIns="0" rIns="0" bIns="0" rtlCol="0" anchor="t"/>
          <a:lstStyle/>
          <a:p>
            <a:pPr marL="228600" indent="-228600">
              <a:spcAft>
                <a:spcPts val="1000"/>
              </a:spcAft>
              <a:buSzPct val="100000"/>
              <a:buChar char="•"/>
            </a:pPr>
            <a:r>
              <a:rPr lang="en-US" sz="1700" b="1" dirty="0">
                <a:solidFill>
                  <a:schemeClr val="tx1"/>
                </a:solidFill>
              </a:rPr>
              <a:t>Multi-stage frontend:</a:t>
            </a:r>
            <a:pPr indent="0" marL="0">
              <a:buNone/>
            </a:pPr>
            <a:r>
              <a:rPr lang="en-US" sz="1700" dirty="0">
                <a:solidFill>
                  <a:schemeClr val="tx1"/>
                </a:solidFill>
              </a:rPr>
              <a:t> Node builds, unprivileged Nginx serves.</a:t>
            </a:r>
            <a:endParaRPr lang="en-US" sz="1700" dirty="0"/>
          </a:p>
          <a:p>
            <a:pPr marL="228600" indent="-228600">
              <a:spcAft>
                <a:spcPts val="1000"/>
              </a:spcAft>
              <a:buSzPct val="100000"/>
              <a:buChar char="•"/>
            </a:pPr>
            <a:r>
              <a:rPr lang="en-US" sz="1700" b="1" dirty="0">
                <a:solidFill>
                  <a:schemeClr val="tx1"/>
                </a:solidFill>
              </a:rPr>
              <a:t>Non-root:</a:t>
            </a:r>
            <a:pPr indent="0" marL="0">
              <a:buNone/>
            </a:pPr>
            <a:r>
              <a:rPr lang="en-US" sz="1700" dirty="0">
                <a:solidFill>
                  <a:schemeClr val="tx1"/>
                </a:solidFill>
              </a:rPr>
              <a:t> backend runs as uid 10001, frontend as uid 101.</a:t>
            </a:r>
            <a:endParaRPr lang="en-US" sz="1700" dirty="0"/>
          </a:p>
          <a:p>
            <a:pPr marL="228600" indent="-228600">
              <a:spcAft>
                <a:spcPts val="1000"/>
              </a:spcAft>
              <a:buSzPct val="100000"/>
              <a:buChar char="•"/>
            </a:pPr>
            <a:r>
              <a:rPr lang="en-US" sz="1700" b="1" dirty="0">
                <a:solidFill>
                  <a:schemeClr val="tx1"/>
                </a:solidFill>
              </a:rPr>
              <a:t>One command:</a:t>
            </a:r>
            <a:pPr indent="0" marL="0">
              <a:buNone/>
            </a:pPr>
            <a:r>
              <a:rPr lang="en-US" sz="1700" dirty="0">
                <a:solidFill>
                  <a:schemeClr val="tx1"/>
                </a:solidFill>
              </a:rPr>
              <a:t> postgres, backend and frontend; the backend waits for a healthy database.</a:t>
            </a:r>
            <a:endParaRPr lang="en-US" sz="1700" dirty="0"/>
          </a:p>
          <a:p>
            <a:pPr marL="228600" indent="-228600">
              <a:spcAft>
                <a:spcPts val="1000"/>
              </a:spcAft>
              <a:buSzPct val="100000"/>
              <a:buChar char="•"/>
            </a:pPr>
            <a:r>
              <a:rPr lang="en-US" sz="1700" b="1" dirty="0">
                <a:solidFill>
                  <a:schemeClr val="tx1"/>
                </a:solidFill>
              </a:rPr>
              <a:t>Health checks</a:t>
            </a:r>
            <a:pPr indent="0" marL="0">
              <a:buNone/>
            </a:pPr>
            <a:r>
              <a:rPr lang="en-US" sz="1700" dirty="0">
                <a:solidFill>
                  <a:schemeClr val="tx1"/>
                </a:solidFill>
              </a:rPr>
              <a:t> on Postgres and the backend.</a:t>
            </a:r>
            <a:endParaRPr lang="en-US" sz="1700" dirty="0"/>
          </a:p>
        </p:txBody>
      </p:sp>
      <p:sp>
        <p:nvSpPr>
          <p:cNvPr id="9" name="stat card backend uid"/>
          <p:cNvSpPr/>
          <p:nvPr/>
        </p:nvSpPr>
        <p:spPr>
          <a:xfrm>
            <a:off x="6858000" y="4800600"/>
            <a:ext cx="2286000" cy="1371600"/>
          </a:xfrm>
          <a:prstGeom prst="roundRect">
            <a:avLst>
              <a:gd name="adj" fmla="val 8000"/>
            </a:avLst>
          </a:prstGeom>
          <a:solidFill>
            <a:schemeClr val="bg2"/>
          </a:solidFill>
          <a:ln/>
        </p:spPr>
      </p:sp>
      <p:sp>
        <p:nvSpPr>
          <p:cNvPr id="10" name="stat backend uid"/>
          <p:cNvSpPr txBox="1"/>
          <p:nvPr/>
        </p:nvSpPr>
        <p:spPr>
          <a:xfrm>
            <a:off x="6995160" y="4910328"/>
            <a:ext cx="2011680" cy="754380"/>
          </a:xfrm>
          <a:prstGeom prst="rect">
            <a:avLst/>
          </a:prstGeom>
          <a:noFill/>
          <a:ln/>
        </p:spPr>
        <p:txBody>
          <a:bodyPr wrap="square" lIns="0" tIns="0" rIns="0" bIns="0" rtlCol="0" anchor="ctr"/>
          <a:lstStyle/>
          <a:p>
            <a:pPr algn="l" indent="0" marL="0">
              <a:buNone/>
            </a:pPr>
            <a:r>
              <a:rPr lang="en-US" sz="4400" b="1" dirty="0">
                <a:solidFill>
                  <a:schemeClr val="accent1"/>
                </a:solidFill>
                <a:latin typeface="Cambria" pitchFamily="34" charset="0"/>
                <a:ea typeface="Cambria" pitchFamily="34" charset="-122"/>
                <a:cs typeface="Cambria" pitchFamily="34" charset="-120"/>
              </a:rPr>
              <a:t>10001</a:t>
            </a:r>
            <a:endParaRPr lang="en-US" sz="4400" dirty="0"/>
          </a:p>
        </p:txBody>
      </p:sp>
      <p:sp>
        <p:nvSpPr>
          <p:cNvPr id="11" name="stat label backend uid"/>
          <p:cNvSpPr txBox="1"/>
          <p:nvPr/>
        </p:nvSpPr>
        <p:spPr>
          <a:xfrm>
            <a:off x="6995160" y="5650992"/>
            <a:ext cx="2011680" cy="411480"/>
          </a:xfrm>
          <a:prstGeom prst="rect">
            <a:avLst/>
          </a:prstGeom>
          <a:noFill/>
          <a:ln/>
        </p:spPr>
        <p:txBody>
          <a:bodyPr wrap="square" lIns="0" tIns="0" rIns="0" bIns="0" rtlCol="0" anchor="t"/>
          <a:lstStyle/>
          <a:p>
            <a:pPr algn="l" indent="0" marL="0">
              <a:buNone/>
            </a:pPr>
            <a:r>
              <a:rPr lang="en-US" sz="1400" dirty="0">
                <a:solidFill>
                  <a:schemeClr val="tx1"/>
                </a:solidFill>
              </a:rPr>
              <a:t>backend uid</a:t>
            </a:r>
            <a:endParaRPr lang="en-US" sz="1400" dirty="0"/>
          </a:p>
        </p:txBody>
      </p:sp>
      <p:sp>
        <p:nvSpPr>
          <p:cNvPr id="12" name="stat card frontend uid"/>
          <p:cNvSpPr/>
          <p:nvPr/>
        </p:nvSpPr>
        <p:spPr>
          <a:xfrm>
            <a:off x="9326880" y="4800600"/>
            <a:ext cx="2286000" cy="1371600"/>
          </a:xfrm>
          <a:prstGeom prst="roundRect">
            <a:avLst>
              <a:gd name="adj" fmla="val 8000"/>
            </a:avLst>
          </a:prstGeom>
          <a:solidFill>
            <a:schemeClr val="bg2"/>
          </a:solidFill>
          <a:ln/>
        </p:spPr>
      </p:sp>
      <p:sp>
        <p:nvSpPr>
          <p:cNvPr id="13" name="stat frontend uid"/>
          <p:cNvSpPr txBox="1"/>
          <p:nvPr/>
        </p:nvSpPr>
        <p:spPr>
          <a:xfrm>
            <a:off x="9464040" y="4910328"/>
            <a:ext cx="2011680" cy="754380"/>
          </a:xfrm>
          <a:prstGeom prst="rect">
            <a:avLst/>
          </a:prstGeom>
          <a:noFill/>
          <a:ln/>
        </p:spPr>
        <p:txBody>
          <a:bodyPr wrap="square" lIns="0" tIns="0" rIns="0" bIns="0" rtlCol="0" anchor="ctr"/>
          <a:lstStyle/>
          <a:p>
            <a:pPr algn="l" indent="0" marL="0">
              <a:buNone/>
            </a:pPr>
            <a:r>
              <a:rPr lang="en-US" sz="4400" b="1" dirty="0">
                <a:solidFill>
                  <a:schemeClr val="accent1"/>
                </a:solidFill>
                <a:latin typeface="Cambria" pitchFamily="34" charset="0"/>
                <a:ea typeface="Cambria" pitchFamily="34" charset="-122"/>
                <a:cs typeface="Cambria" pitchFamily="34" charset="-120"/>
              </a:rPr>
              <a:t>101</a:t>
            </a:r>
            <a:endParaRPr lang="en-US" sz="4400" dirty="0"/>
          </a:p>
        </p:txBody>
      </p:sp>
      <p:sp>
        <p:nvSpPr>
          <p:cNvPr id="14" name="stat label frontend uid"/>
          <p:cNvSpPr txBox="1"/>
          <p:nvPr/>
        </p:nvSpPr>
        <p:spPr>
          <a:xfrm>
            <a:off x="9464040" y="5650992"/>
            <a:ext cx="2011680" cy="411480"/>
          </a:xfrm>
          <a:prstGeom prst="rect">
            <a:avLst/>
          </a:prstGeom>
          <a:noFill/>
          <a:ln/>
        </p:spPr>
        <p:txBody>
          <a:bodyPr wrap="square" lIns="0" tIns="0" rIns="0" bIns="0" rtlCol="0" anchor="t"/>
          <a:lstStyle/>
          <a:p>
            <a:pPr algn="l" indent="0" marL="0">
              <a:buNone/>
            </a:pPr>
            <a:r>
              <a:rPr lang="en-US" sz="1400" dirty="0">
                <a:solidFill>
                  <a:schemeClr val="tx1"/>
                </a:solidFill>
              </a:rPr>
              <a:t>frontend uid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CI/CD pipeline</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M5  ·  CI/CD  ·  15 pts</a:t>
            </a:r>
            <a:endParaRPr lang="en-US" sz="1400" dirty="0"/>
          </a:p>
        </p:txBody>
      </p:sp>
      <p:sp>
        <p:nvSpPr>
          <p:cNvPr id="5" name="stage pytest"/>
          <p:cNvSpPr/>
          <p:nvPr/>
        </p:nvSpPr>
        <p:spPr>
          <a:xfrm>
            <a:off x="548640" y="1417320"/>
            <a:ext cx="1783080" cy="640080"/>
          </a:xfrm>
          <a:prstGeom prst="chevron">
            <a:avLst/>
          </a:prstGeom>
          <a:solidFill>
            <a:schemeClr val="accent1"/>
          </a:solidFill>
          <a:ln/>
        </p:spPr>
      </p:sp>
      <p:sp>
        <p:nvSpPr>
          <p:cNvPr id="6" name="stage text pytest"/>
          <p:cNvSpPr txBox="1"/>
          <p:nvPr/>
        </p:nvSpPr>
        <p:spPr>
          <a:xfrm>
            <a:off x="777240" y="1417320"/>
            <a:ext cx="1325880" cy="640080"/>
          </a:xfrm>
          <a:prstGeom prst="rect">
            <a:avLst/>
          </a:prstGeom>
          <a:noFill/>
          <a:ln/>
        </p:spPr>
        <p:txBody>
          <a:bodyPr wrap="square" lIns="0" tIns="0" rIns="0" bIns="0" rtlCol="0" anchor="ctr"/>
          <a:lstStyle/>
          <a:p>
            <a:pPr algn="ctr" indent="0" marL="0">
              <a:buNone/>
            </a:pPr>
            <a:r>
              <a:rPr lang="en-US" sz="1200" b="1" dirty="0">
                <a:solidFill>
                  <a:schemeClr val="bg1"/>
                </a:solidFill>
              </a:rPr>
              <a:t>pytest</a:t>
            </a:r>
            <a:endParaRPr lang="en-US" sz="1200" dirty="0"/>
          </a:p>
        </p:txBody>
      </p:sp>
      <p:sp>
        <p:nvSpPr>
          <p:cNvPr id="7" name="stage Frontend build"/>
          <p:cNvSpPr/>
          <p:nvPr/>
        </p:nvSpPr>
        <p:spPr>
          <a:xfrm>
            <a:off x="2404872" y="1417320"/>
            <a:ext cx="1783080" cy="640080"/>
          </a:xfrm>
          <a:prstGeom prst="chevron">
            <a:avLst/>
          </a:prstGeom>
          <a:solidFill>
            <a:schemeClr val="accent1"/>
          </a:solidFill>
          <a:ln/>
        </p:spPr>
      </p:sp>
      <p:sp>
        <p:nvSpPr>
          <p:cNvPr id="8" name="stage text Frontend build"/>
          <p:cNvSpPr txBox="1"/>
          <p:nvPr/>
        </p:nvSpPr>
        <p:spPr>
          <a:xfrm>
            <a:off x="2633472" y="1417320"/>
            <a:ext cx="1325880" cy="640080"/>
          </a:xfrm>
          <a:prstGeom prst="rect">
            <a:avLst/>
          </a:prstGeom>
          <a:noFill/>
          <a:ln/>
        </p:spPr>
        <p:txBody>
          <a:bodyPr wrap="square" lIns="0" tIns="0" rIns="0" bIns="0" rtlCol="0" anchor="ctr"/>
          <a:lstStyle/>
          <a:p>
            <a:pPr algn="ctr" indent="0" marL="0">
              <a:buNone/>
            </a:pPr>
            <a:r>
              <a:rPr lang="en-US" sz="1200" b="1" dirty="0">
                <a:solidFill>
                  <a:schemeClr val="bg1"/>
                </a:solidFill>
              </a:rPr>
              <a:t>Frontend build</a:t>
            </a:r>
            <a:endParaRPr lang="en-US" sz="1200" dirty="0"/>
          </a:p>
        </p:txBody>
      </p:sp>
      <p:sp>
        <p:nvSpPr>
          <p:cNvPr id="9" name="stage Docker build x2"/>
          <p:cNvSpPr/>
          <p:nvPr/>
        </p:nvSpPr>
        <p:spPr>
          <a:xfrm>
            <a:off x="4261104" y="1417320"/>
            <a:ext cx="1783080" cy="640080"/>
          </a:xfrm>
          <a:prstGeom prst="chevron">
            <a:avLst/>
          </a:prstGeom>
          <a:solidFill>
            <a:schemeClr val="accent1"/>
          </a:solidFill>
          <a:ln/>
        </p:spPr>
      </p:sp>
      <p:sp>
        <p:nvSpPr>
          <p:cNvPr id="10" name="stage text Docker build x2"/>
          <p:cNvSpPr txBox="1"/>
          <p:nvPr/>
        </p:nvSpPr>
        <p:spPr>
          <a:xfrm>
            <a:off x="4489704" y="1417320"/>
            <a:ext cx="1325880" cy="640080"/>
          </a:xfrm>
          <a:prstGeom prst="rect">
            <a:avLst/>
          </a:prstGeom>
          <a:noFill/>
          <a:ln/>
        </p:spPr>
        <p:txBody>
          <a:bodyPr wrap="square" lIns="0" tIns="0" rIns="0" bIns="0" rtlCol="0" anchor="ctr"/>
          <a:lstStyle/>
          <a:p>
            <a:pPr algn="ctr" indent="0" marL="0">
              <a:buNone/>
            </a:pPr>
            <a:r>
              <a:rPr lang="en-US" sz="1200" b="1" dirty="0">
                <a:solidFill>
                  <a:schemeClr val="bg1"/>
                </a:solidFill>
              </a:rPr>
              <a:t>Docker build x2</a:t>
            </a:r>
            <a:endParaRPr lang="en-US" sz="1200" dirty="0"/>
          </a:p>
        </p:txBody>
      </p:sp>
      <p:sp>
        <p:nvSpPr>
          <p:cNvPr id="11" name="stage Trivy scan x2"/>
          <p:cNvSpPr/>
          <p:nvPr/>
        </p:nvSpPr>
        <p:spPr>
          <a:xfrm>
            <a:off x="6117336" y="1417320"/>
            <a:ext cx="1783080" cy="640080"/>
          </a:xfrm>
          <a:prstGeom prst="chevron">
            <a:avLst/>
          </a:prstGeom>
          <a:solidFill>
            <a:schemeClr val="accent2"/>
          </a:solidFill>
          <a:ln/>
        </p:spPr>
      </p:sp>
      <p:sp>
        <p:nvSpPr>
          <p:cNvPr id="12" name="stage text Trivy scan x2"/>
          <p:cNvSpPr txBox="1"/>
          <p:nvPr/>
        </p:nvSpPr>
        <p:spPr>
          <a:xfrm>
            <a:off x="6345936" y="1417320"/>
            <a:ext cx="1325880" cy="640080"/>
          </a:xfrm>
          <a:prstGeom prst="rect">
            <a:avLst/>
          </a:prstGeom>
          <a:noFill/>
          <a:ln/>
        </p:spPr>
        <p:txBody>
          <a:bodyPr wrap="square" lIns="0" tIns="0" rIns="0" bIns="0" rtlCol="0" anchor="ctr"/>
          <a:lstStyle/>
          <a:p>
            <a:pPr algn="ctr" indent="0" marL="0">
              <a:buNone/>
            </a:pPr>
            <a:r>
              <a:rPr lang="en-US" sz="1200" b="1" dirty="0">
                <a:solidFill>
                  <a:schemeClr val="tx1"/>
                </a:solidFill>
              </a:rPr>
              <a:t>Trivy scan x2</a:t>
            </a:r>
            <a:endParaRPr lang="en-US" sz="1200" dirty="0"/>
          </a:p>
        </p:txBody>
      </p:sp>
      <p:sp>
        <p:nvSpPr>
          <p:cNvPr id="13" name="stage Push to GHCR"/>
          <p:cNvSpPr/>
          <p:nvPr/>
        </p:nvSpPr>
        <p:spPr>
          <a:xfrm>
            <a:off x="7973568" y="1417320"/>
            <a:ext cx="1783080" cy="640080"/>
          </a:xfrm>
          <a:prstGeom prst="chevron">
            <a:avLst/>
          </a:prstGeom>
          <a:solidFill>
            <a:schemeClr val="accent1"/>
          </a:solidFill>
          <a:ln/>
        </p:spPr>
      </p:sp>
      <p:sp>
        <p:nvSpPr>
          <p:cNvPr id="14" name="stage text Push to GHCR"/>
          <p:cNvSpPr txBox="1"/>
          <p:nvPr/>
        </p:nvSpPr>
        <p:spPr>
          <a:xfrm>
            <a:off x="8202168" y="1417320"/>
            <a:ext cx="1325880" cy="640080"/>
          </a:xfrm>
          <a:prstGeom prst="rect">
            <a:avLst/>
          </a:prstGeom>
          <a:noFill/>
          <a:ln/>
        </p:spPr>
        <p:txBody>
          <a:bodyPr wrap="square" lIns="0" tIns="0" rIns="0" bIns="0" rtlCol="0" anchor="ctr"/>
          <a:lstStyle/>
          <a:p>
            <a:pPr algn="ctr" indent="0" marL="0">
              <a:buNone/>
            </a:pPr>
            <a:r>
              <a:rPr lang="en-US" sz="1200" b="1" dirty="0">
                <a:solidFill>
                  <a:schemeClr val="bg1"/>
                </a:solidFill>
              </a:rPr>
              <a:t>Push to GHCR</a:t>
            </a:r>
            <a:endParaRPr lang="en-US" sz="1200" dirty="0"/>
          </a:p>
        </p:txBody>
      </p:sp>
      <p:sp>
        <p:nvSpPr>
          <p:cNvPr id="15" name="stage Commit tag to Git"/>
          <p:cNvSpPr/>
          <p:nvPr/>
        </p:nvSpPr>
        <p:spPr>
          <a:xfrm>
            <a:off x="9829800" y="1417320"/>
            <a:ext cx="1783080" cy="640080"/>
          </a:xfrm>
          <a:prstGeom prst="chevron">
            <a:avLst/>
          </a:prstGeom>
          <a:solidFill>
            <a:schemeClr val="accent1"/>
          </a:solidFill>
          <a:ln/>
        </p:spPr>
      </p:sp>
      <p:sp>
        <p:nvSpPr>
          <p:cNvPr id="16" name="stage text Commit tag to Git"/>
          <p:cNvSpPr txBox="1"/>
          <p:nvPr/>
        </p:nvSpPr>
        <p:spPr>
          <a:xfrm>
            <a:off x="10058400" y="1417320"/>
            <a:ext cx="1325880" cy="640080"/>
          </a:xfrm>
          <a:prstGeom prst="rect">
            <a:avLst/>
          </a:prstGeom>
          <a:noFill/>
          <a:ln/>
        </p:spPr>
        <p:txBody>
          <a:bodyPr wrap="square" lIns="0" tIns="0" rIns="0" bIns="0" rtlCol="0" anchor="ctr"/>
          <a:lstStyle/>
          <a:p>
            <a:pPr algn="ctr" indent="0" marL="0">
              <a:buNone/>
            </a:pPr>
            <a:r>
              <a:rPr lang="en-US" sz="1200" b="1" dirty="0">
                <a:solidFill>
                  <a:schemeClr val="bg1"/>
                </a:solidFill>
              </a:rPr>
              <a:t>Commit tag to Git</a:t>
            </a:r>
            <a:endParaRPr lang="en-US" sz="1200" dirty="0"/>
          </a:p>
        </p:txBody>
      </p:sp>
      <p:pic>
        <p:nvPicPr>
          <p:cNvPr id="17" name="actions run" descr="Green run: all three jobs">    </p:cNvPr>
          <p:cNvPicPr>
            <a:picLocks noChangeAspect="1"/>
          </p:cNvPicPr>
          <p:nvPr/>
        </p:nvPicPr>
        <p:blipFill>
          <a:blip r:embed="rId1"/>
          <a:stretch>
            <a:fillRect/>
          </a:stretch>
        </p:blipFill>
        <p:spPr>
          <a:xfrm>
            <a:off x="548640" y="2423160"/>
            <a:ext cx="5486400" cy="2926080"/>
          </a:xfrm>
          <a:prstGeom prst="rect">
            <a:avLst/>
          </a:prstGeom>
          <a:effectLst>
            <a:outerShdw sx="100000" sy="100000" kx="0" ky="0" algn="bl" rotWithShape="0" blurRad="76200" dist="25400" dir="5400000">
              <a:srgbClr val="000000">
                <a:alpha val="18000"/>
              </a:srgbClr>
            </a:outerShdw>
          </a:effectLst>
        </p:spPr>
      </p:pic>
      <p:sp>
        <p:nvSpPr>
          <p:cNvPr id="18" name="actions run border"/>
          <p:cNvSpPr/>
          <p:nvPr/>
        </p:nvSpPr>
        <p:spPr>
          <a:xfrm>
            <a:off x="548640" y="2423160"/>
            <a:ext cx="5486400" cy="2926080"/>
          </a:xfrm>
          <a:prstGeom prst="rect">
            <a:avLst/>
          </a:prstGeom>
          <a:ln w="9525">
            <a:solidFill>
              <a:srgbClr val="CBD5E1"/>
            </a:solidFill>
            <a:prstDash val="solid"/>
          </a:ln>
        </p:spPr>
      </p:sp>
      <p:sp>
        <p:nvSpPr>
          <p:cNvPr id="19" name="actions run caption"/>
          <p:cNvSpPr txBox="1"/>
          <p:nvPr/>
        </p:nvSpPr>
        <p:spPr>
          <a:xfrm>
            <a:off x="548640" y="5394960"/>
            <a:ext cx="5486400" cy="274320"/>
          </a:xfrm>
          <a:prstGeom prst="rect">
            <a:avLst/>
          </a:prstGeom>
          <a:noFill/>
          <a:ln/>
        </p:spPr>
        <p:txBody>
          <a:bodyPr wrap="square" lIns="0" tIns="0" rIns="0" bIns="0" rtlCol="0" anchor="ctr"/>
          <a:lstStyle/>
          <a:p>
            <a:pPr algn="l" indent="0" marL="0">
              <a:buNone/>
            </a:pPr>
            <a:r>
              <a:rPr lang="en-US" sz="1200" dirty="0">
                <a:solidFill>
                  <a:schemeClr val="accent6"/>
                </a:solidFill>
              </a:rPr>
              <a:t>Green run: all three jobs</a:t>
            </a:r>
            <a:endParaRPr lang="en-US" sz="1200" dirty="0"/>
          </a:p>
        </p:txBody>
      </p:sp>
      <p:pic>
        <p:nvPicPr>
          <p:cNvPr id="20" name="ghcr package" descr="GHCR images tagged with the commit SHA">    </p:cNvPr>
          <p:cNvPicPr>
            <a:picLocks noChangeAspect="1"/>
          </p:cNvPicPr>
          <p:nvPr/>
        </p:nvPicPr>
        <p:blipFill>
          <a:blip r:embed="rId2"/>
          <a:stretch>
            <a:fillRect/>
          </a:stretch>
        </p:blipFill>
        <p:spPr>
          <a:xfrm>
            <a:off x="6309360" y="2566604"/>
            <a:ext cx="5303520" cy="2639192"/>
          </a:xfrm>
          <a:prstGeom prst="rect">
            <a:avLst/>
          </a:prstGeom>
          <a:effectLst>
            <a:outerShdw sx="100000" sy="100000" kx="0" ky="0" algn="bl" rotWithShape="0" blurRad="76200" dist="25400" dir="5400000">
              <a:srgbClr val="000000">
                <a:alpha val="18000"/>
              </a:srgbClr>
            </a:outerShdw>
          </a:effectLst>
        </p:spPr>
      </p:pic>
      <p:sp>
        <p:nvSpPr>
          <p:cNvPr id="21" name="ghcr package border"/>
          <p:cNvSpPr/>
          <p:nvPr/>
        </p:nvSpPr>
        <p:spPr>
          <a:xfrm>
            <a:off x="6309360" y="2566604"/>
            <a:ext cx="5303520" cy="2639192"/>
          </a:xfrm>
          <a:prstGeom prst="rect">
            <a:avLst/>
          </a:prstGeom>
          <a:ln w="9525">
            <a:solidFill>
              <a:srgbClr val="CBD5E1"/>
            </a:solidFill>
            <a:prstDash val="solid"/>
          </a:ln>
        </p:spPr>
      </p:sp>
      <p:sp>
        <p:nvSpPr>
          <p:cNvPr id="22" name="ghcr package caption"/>
          <p:cNvSpPr txBox="1"/>
          <p:nvPr/>
        </p:nvSpPr>
        <p:spPr>
          <a:xfrm>
            <a:off x="6309360" y="5251516"/>
            <a:ext cx="5303520" cy="274320"/>
          </a:xfrm>
          <a:prstGeom prst="rect">
            <a:avLst/>
          </a:prstGeom>
          <a:noFill/>
          <a:ln/>
        </p:spPr>
        <p:txBody>
          <a:bodyPr wrap="square" lIns="0" tIns="0" rIns="0" bIns="0" rtlCol="0" anchor="ctr"/>
          <a:lstStyle/>
          <a:p>
            <a:pPr algn="l" indent="0" marL="0">
              <a:buNone/>
            </a:pPr>
            <a:r>
              <a:rPr lang="en-US" sz="1200" dirty="0">
                <a:solidFill>
                  <a:schemeClr val="accent6"/>
                </a:solidFill>
              </a:rPr>
              <a:t>GHCR images tagged with the commit SHA</a:t>
            </a:r>
            <a:endParaRPr lang="en-US" sz="1200" dirty="0"/>
          </a:p>
        </p:txBody>
      </p:sp>
      <p:sp>
        <p:nvSpPr>
          <p:cNvPr id="23" name="pipeline note"/>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500" dirty="0">
                <a:solidFill>
                  <a:schemeClr val="tx1"/>
                </a:solidFill>
              </a:rPr>
              <a:t>Runs on every push to main. Nothing is pushed unless tests and both scans pass; tags are commit SHAs, and the last step commits the new tag to Git for ArgoCD.</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Security scanning with Trivy</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M6  ·  Security  ·  5 pts</a:t>
            </a:r>
            <a:endParaRPr lang="en-US" sz="1400" dirty="0"/>
          </a:p>
        </p:txBody>
      </p:sp>
      <p:sp>
        <p:nvSpPr>
          <p:cNvPr id="5" name="stat card HIGH CVEs, before and after"/>
          <p:cNvSpPr/>
          <p:nvPr/>
        </p:nvSpPr>
        <p:spPr>
          <a:xfrm>
            <a:off x="548640" y="1463040"/>
            <a:ext cx="2468880" cy="1737360"/>
          </a:xfrm>
          <a:prstGeom prst="roundRect">
            <a:avLst>
              <a:gd name="adj" fmla="val 6316"/>
            </a:avLst>
          </a:prstGeom>
          <a:solidFill>
            <a:schemeClr val="bg2"/>
          </a:solidFill>
          <a:ln/>
        </p:spPr>
      </p:sp>
      <p:sp>
        <p:nvSpPr>
          <p:cNvPr id="6" name="stat HIGH CVEs, before and after"/>
          <p:cNvSpPr txBox="1"/>
          <p:nvPr/>
        </p:nvSpPr>
        <p:spPr>
          <a:xfrm>
            <a:off x="685800" y="1572768"/>
            <a:ext cx="2194560" cy="955548"/>
          </a:xfrm>
          <a:prstGeom prst="rect">
            <a:avLst/>
          </a:prstGeom>
          <a:noFill/>
          <a:ln/>
        </p:spPr>
        <p:txBody>
          <a:bodyPr wrap="square" lIns="0" tIns="0" rIns="0" bIns="0" rtlCol="0" anchor="ctr"/>
          <a:lstStyle/>
          <a:p>
            <a:pPr algn="l" indent="0" marL="0">
              <a:buNone/>
            </a:pPr>
            <a:r>
              <a:rPr lang="en-US" sz="4400" b="1" dirty="0">
                <a:solidFill>
                  <a:schemeClr val="accent4"/>
                </a:solidFill>
                <a:latin typeface="Cambria" pitchFamily="34" charset="0"/>
                <a:ea typeface="Cambria" pitchFamily="34" charset="-122"/>
                <a:cs typeface="Cambria" pitchFamily="34" charset="-120"/>
              </a:rPr>
              <a:t>3 → 0</a:t>
            </a:r>
            <a:endParaRPr lang="en-US" sz="4400" dirty="0"/>
          </a:p>
        </p:txBody>
      </p:sp>
      <p:sp>
        <p:nvSpPr>
          <p:cNvPr id="7" name="stat label HIGH CVEs, before and after"/>
          <p:cNvSpPr txBox="1"/>
          <p:nvPr/>
        </p:nvSpPr>
        <p:spPr>
          <a:xfrm>
            <a:off x="685800" y="2540203"/>
            <a:ext cx="2194560" cy="521208"/>
          </a:xfrm>
          <a:prstGeom prst="rect">
            <a:avLst/>
          </a:prstGeom>
          <a:noFill/>
          <a:ln/>
        </p:spPr>
        <p:txBody>
          <a:bodyPr wrap="square" lIns="0" tIns="0" rIns="0" bIns="0" rtlCol="0" anchor="t"/>
          <a:lstStyle/>
          <a:p>
            <a:pPr algn="l" indent="0" marL="0">
              <a:buNone/>
            </a:pPr>
            <a:r>
              <a:rPr lang="en-US" sz="1400" dirty="0">
                <a:solidFill>
                  <a:schemeClr val="tx1"/>
                </a:solidFill>
              </a:rPr>
              <a:t>HIGH CVEs, before and after</a:t>
            </a:r>
            <a:endParaRPr lang="en-US" sz="1400" dirty="0"/>
          </a:p>
        </p:txBody>
      </p:sp>
      <p:sp>
        <p:nvSpPr>
          <p:cNvPr id="8" name="stat card images scanned in CI"/>
          <p:cNvSpPr/>
          <p:nvPr/>
        </p:nvSpPr>
        <p:spPr>
          <a:xfrm>
            <a:off x="3200400" y="1463040"/>
            <a:ext cx="2468880" cy="1737360"/>
          </a:xfrm>
          <a:prstGeom prst="roundRect">
            <a:avLst>
              <a:gd name="adj" fmla="val 6316"/>
            </a:avLst>
          </a:prstGeom>
          <a:solidFill>
            <a:schemeClr val="bg2"/>
          </a:solidFill>
          <a:ln/>
        </p:spPr>
      </p:sp>
      <p:sp>
        <p:nvSpPr>
          <p:cNvPr id="9" name="stat images scanned in CI"/>
          <p:cNvSpPr txBox="1"/>
          <p:nvPr/>
        </p:nvSpPr>
        <p:spPr>
          <a:xfrm>
            <a:off x="3337560" y="1572768"/>
            <a:ext cx="2194560" cy="955548"/>
          </a:xfrm>
          <a:prstGeom prst="rect">
            <a:avLst/>
          </a:prstGeom>
          <a:noFill/>
          <a:ln/>
        </p:spPr>
        <p:txBody>
          <a:bodyPr wrap="square" lIns="0" tIns="0" rIns="0" bIns="0" rtlCol="0" anchor="ctr"/>
          <a:lstStyle/>
          <a:p>
            <a:pPr algn="l" indent="0" marL="0">
              <a:buNone/>
            </a:pPr>
            <a:r>
              <a:rPr lang="en-US" sz="4400" b="1" dirty="0">
                <a:solidFill>
                  <a:schemeClr val="accent1"/>
                </a:solidFill>
                <a:latin typeface="Cambria" pitchFamily="34" charset="0"/>
                <a:ea typeface="Cambria" pitchFamily="34" charset="-122"/>
                <a:cs typeface="Cambria" pitchFamily="34" charset="-120"/>
              </a:rPr>
              <a:t>2 / 2</a:t>
            </a:r>
            <a:endParaRPr lang="en-US" sz="4400" dirty="0"/>
          </a:p>
        </p:txBody>
      </p:sp>
      <p:sp>
        <p:nvSpPr>
          <p:cNvPr id="10" name="stat label images scanned in CI"/>
          <p:cNvSpPr txBox="1"/>
          <p:nvPr/>
        </p:nvSpPr>
        <p:spPr>
          <a:xfrm>
            <a:off x="3337560" y="2540203"/>
            <a:ext cx="2194560" cy="521208"/>
          </a:xfrm>
          <a:prstGeom prst="rect">
            <a:avLst/>
          </a:prstGeom>
          <a:noFill/>
          <a:ln/>
        </p:spPr>
        <p:txBody>
          <a:bodyPr wrap="square" lIns="0" tIns="0" rIns="0" bIns="0" rtlCol="0" anchor="t"/>
          <a:lstStyle/>
          <a:p>
            <a:pPr algn="l" indent="0" marL="0">
              <a:buNone/>
            </a:pPr>
            <a:r>
              <a:rPr lang="en-US" sz="1400" dirty="0">
                <a:solidFill>
                  <a:schemeClr val="tx1"/>
                </a:solidFill>
              </a:rPr>
              <a:t>images scanned in CI</a:t>
            </a:r>
            <a:endParaRPr lang="en-US" sz="1400" dirty="0"/>
          </a:p>
        </p:txBody>
      </p:sp>
      <p:sp>
        <p:nvSpPr>
          <p:cNvPr id="11" name="bullets"/>
          <p:cNvSpPr txBox="1"/>
          <p:nvPr/>
        </p:nvSpPr>
        <p:spPr>
          <a:xfrm>
            <a:off x="548640" y="3474720"/>
            <a:ext cx="5212080" cy="283464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chemeClr val="tx1"/>
                </a:solidFill>
              </a:rPr>
              <a:t>Found:</a:t>
            </a:r>
            <a:pPr indent="0" marL="0">
              <a:buNone/>
            </a:pPr>
            <a:r>
              <a:rPr lang="en-US" sz="1600" dirty="0">
                <a:solidFill>
                  <a:schemeClr val="tx1"/>
                </a:solidFill>
              </a:rPr>
              <a:t> 3 HIGH CVEs in Starlette (via an old FastAPI pin); zlib and nghttp2 in the Alpine image.</a:t>
            </a:r>
            <a:endParaRPr lang="en-US" sz="1600" dirty="0"/>
          </a:p>
          <a:p>
            <a:pPr marL="228600" indent="-228600">
              <a:spcAft>
                <a:spcPts val="1000"/>
              </a:spcAft>
              <a:buSzPct val="100000"/>
              <a:buChar char="•"/>
            </a:pPr>
            <a:r>
              <a:rPr lang="en-US" sz="1600" b="1" dirty="0">
                <a:solidFill>
                  <a:schemeClr val="tx1"/>
                </a:solidFill>
              </a:rPr>
              <a:t>Fixed:</a:t>
            </a:r>
            <a:pPr indent="0" marL="0">
              <a:buNone/>
            </a:pPr>
            <a:r>
              <a:rPr lang="en-US" sz="1600" dirty="0">
                <a:solidFill>
                  <a:schemeClr val="tx1"/>
                </a:solidFill>
              </a:rPr>
              <a:t> upgraded FastAPI, Starlette and the instrumentator; apk upgrade in the runtime image.</a:t>
            </a:r>
            <a:endParaRPr lang="en-US" sz="1600" dirty="0"/>
          </a:p>
          <a:p>
            <a:pPr marL="228600" indent="-228600">
              <a:spcAft>
                <a:spcPts val="1000"/>
              </a:spcAft>
              <a:buSzPct val="100000"/>
              <a:buChar char="•"/>
            </a:pPr>
            <a:r>
              <a:rPr lang="en-US" sz="1600" b="1" dirty="0">
                <a:solidFill>
                  <a:schemeClr val="tx1"/>
                </a:solidFill>
              </a:rPr>
              <a:t>Gate:</a:t>
            </a:r>
            <a:pPr indent="0" marL="0">
              <a:buNone/>
            </a:pPr>
            <a:r>
              <a:rPr lang="en-US" sz="1600" dirty="0">
                <a:solidFill>
                  <a:schemeClr val="tx1"/>
                </a:solidFill>
              </a:rPr>
              <a:t> --exit-code 1 fails the build on any HIGH or CRITICAL finding.</a:t>
            </a:r>
            <a:endParaRPr lang="en-US" sz="1600" dirty="0"/>
          </a:p>
        </p:txBody>
      </p:sp>
      <p:pic>
        <p:nvPicPr>
          <p:cNvPr id="12" name="pipeline steps" descr="Both scans run before the push step">    </p:cNvPr>
          <p:cNvPicPr>
            <a:picLocks noChangeAspect="1"/>
          </p:cNvPicPr>
          <p:nvPr/>
        </p:nvPicPr>
        <p:blipFill>
          <a:blip r:embed="rId1"/>
          <a:stretch>
            <a:fillRect/>
          </a:stretch>
        </p:blipFill>
        <p:spPr>
          <a:xfrm>
            <a:off x="6077238" y="1417320"/>
            <a:ext cx="5493443" cy="2651760"/>
          </a:xfrm>
          <a:prstGeom prst="rect">
            <a:avLst/>
          </a:prstGeom>
          <a:effectLst>
            <a:outerShdw sx="100000" sy="100000" kx="0" ky="0" algn="bl" rotWithShape="0" blurRad="76200" dist="25400" dir="5400000">
              <a:srgbClr val="000000">
                <a:alpha val="18000"/>
              </a:srgbClr>
            </a:outerShdw>
          </a:effectLst>
        </p:spPr>
      </p:pic>
      <p:sp>
        <p:nvSpPr>
          <p:cNvPr id="13" name="pipeline steps border"/>
          <p:cNvSpPr/>
          <p:nvPr/>
        </p:nvSpPr>
        <p:spPr>
          <a:xfrm>
            <a:off x="6077238" y="1417320"/>
            <a:ext cx="5493443" cy="2651760"/>
          </a:xfrm>
          <a:prstGeom prst="rect">
            <a:avLst/>
          </a:prstGeom>
          <a:ln w="9525">
            <a:solidFill>
              <a:srgbClr val="CBD5E1"/>
            </a:solidFill>
            <a:prstDash val="solid"/>
          </a:ln>
        </p:spPr>
      </p:sp>
      <p:sp>
        <p:nvSpPr>
          <p:cNvPr id="14" name="pipeline steps caption"/>
          <p:cNvSpPr txBox="1"/>
          <p:nvPr/>
        </p:nvSpPr>
        <p:spPr>
          <a:xfrm>
            <a:off x="6077238" y="4114800"/>
            <a:ext cx="5493443" cy="274320"/>
          </a:xfrm>
          <a:prstGeom prst="rect">
            <a:avLst/>
          </a:prstGeom>
          <a:noFill/>
          <a:ln/>
        </p:spPr>
        <p:txBody>
          <a:bodyPr wrap="square" lIns="0" tIns="0" rIns="0" bIns="0" rtlCol="0" anchor="ctr"/>
          <a:lstStyle/>
          <a:p>
            <a:pPr algn="l" indent="0" marL="0">
              <a:buNone/>
            </a:pPr>
            <a:r>
              <a:rPr lang="en-US" sz="1200" dirty="0">
                <a:solidFill>
                  <a:schemeClr val="accent6"/>
                </a:solidFill>
              </a:rPr>
              <a:t>Both scans run before the push step</a:t>
            </a:r>
            <a:endParaRPr lang="en-US" sz="1200" dirty="0"/>
          </a:p>
        </p:txBody>
      </p:sp>
      <p:pic>
        <p:nvPicPr>
          <p:cNvPr id="15" name="trivy output" descr="Backend: zero findings">    </p:cNvPr>
          <p:cNvPicPr>
            <a:picLocks noChangeAspect="1"/>
          </p:cNvPicPr>
          <p:nvPr/>
        </p:nvPicPr>
        <p:blipFill>
          <a:blip r:embed="rId2"/>
          <a:stretch>
            <a:fillRect/>
          </a:stretch>
        </p:blipFill>
        <p:spPr>
          <a:xfrm>
            <a:off x="6304363" y="4434840"/>
            <a:ext cx="2753193" cy="1828800"/>
          </a:xfrm>
          <a:prstGeom prst="rect">
            <a:avLst/>
          </a:prstGeom>
          <a:effectLst>
            <a:outerShdw sx="100000" sy="100000" kx="0" ky="0" algn="bl" rotWithShape="0" blurRad="76200" dist="25400" dir="5400000">
              <a:srgbClr val="000000">
                <a:alpha val="18000"/>
              </a:srgbClr>
            </a:outerShdw>
          </a:effectLst>
        </p:spPr>
      </p:pic>
      <p:sp>
        <p:nvSpPr>
          <p:cNvPr id="16" name="trivy output border"/>
          <p:cNvSpPr/>
          <p:nvPr/>
        </p:nvSpPr>
        <p:spPr>
          <a:xfrm>
            <a:off x="6304363" y="4434840"/>
            <a:ext cx="2753193" cy="1828800"/>
          </a:xfrm>
          <a:prstGeom prst="rect">
            <a:avLst/>
          </a:prstGeom>
          <a:ln w="9525">
            <a:solidFill>
              <a:srgbClr val="CBD5E1"/>
            </a:solidFill>
            <a:prstDash val="solid"/>
          </a:ln>
        </p:spPr>
      </p:sp>
      <p:sp>
        <p:nvSpPr>
          <p:cNvPr id="17" name="trivy output caption"/>
          <p:cNvSpPr txBox="1"/>
          <p:nvPr/>
        </p:nvSpPr>
        <p:spPr>
          <a:xfrm>
            <a:off x="6304363" y="6309360"/>
            <a:ext cx="2753193" cy="274320"/>
          </a:xfrm>
          <a:prstGeom prst="rect">
            <a:avLst/>
          </a:prstGeom>
          <a:noFill/>
          <a:ln/>
        </p:spPr>
        <p:txBody>
          <a:bodyPr wrap="square" lIns="0" tIns="0" rIns="0" bIns="0" rtlCol="0" anchor="ctr"/>
          <a:lstStyle/>
          <a:p>
            <a:pPr algn="l" indent="0" marL="0">
              <a:buNone/>
            </a:pPr>
            <a:r>
              <a:rPr lang="en-US" sz="1200" dirty="0">
                <a:solidFill>
                  <a:schemeClr val="accent6"/>
                </a:solidFill>
              </a:rPr>
              <a:t>Backend: zero findings</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Terraform on AWS</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M7  ·  Terraform  ·  15 pts</a:t>
            </a:r>
            <a:endParaRPr lang="en-US" sz="1400" dirty="0"/>
          </a:p>
        </p:txBody>
      </p:sp>
      <p:sp>
        <p:nvSpPr>
          <p:cNvPr id="5" name="bullets"/>
          <p:cNvSpPr txBox="1"/>
          <p:nvPr/>
        </p:nvSpPr>
        <p:spPr>
          <a:xfrm>
            <a:off x="548640" y="1463040"/>
            <a:ext cx="3749040" cy="457200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chemeClr val="tx1"/>
                </a:solidFill>
              </a:rPr>
              <a:t>VPC:</a:t>
            </a:r>
            <a:pPr indent="0" marL="0">
              <a:buNone/>
            </a:pPr>
            <a:r>
              <a:rPr lang="en-US" sz="1600" dirty="0">
                <a:solidFill>
                  <a:schemeClr val="tx1"/>
                </a:solidFill>
              </a:rPr>
              <a:t> 2 public + 2 private subnets, internet gateway, NAT.</a:t>
            </a:r>
            <a:endParaRPr lang="en-US" sz="1600" dirty="0"/>
          </a:p>
          <a:p>
            <a:pPr marL="228600" indent="-228600">
              <a:spcAft>
                <a:spcPts val="1000"/>
              </a:spcAft>
              <a:buSzPct val="100000"/>
              <a:buChar char="•"/>
            </a:pPr>
            <a:r>
              <a:rPr lang="en-US" sz="1600" b="1" dirty="0">
                <a:solidFill>
                  <a:schemeClr val="tx1"/>
                </a:solidFill>
              </a:rPr>
              <a:t>EKS 1.31:</a:t>
            </a:r>
            <a:pPr indent="0" marL="0">
              <a:buNone/>
            </a:pPr>
            <a:r>
              <a:rPr lang="en-US" sz="1600" dirty="0">
                <a:solidFill>
                  <a:schemeClr val="tx1"/>
                </a:solidFill>
              </a:rPr>
              <a:t> managed node group, 2 x m7i-flex.large.</a:t>
            </a:r>
            <a:endParaRPr lang="en-US" sz="1600" dirty="0"/>
          </a:p>
          <a:p>
            <a:pPr marL="228600" indent="-228600">
              <a:spcAft>
                <a:spcPts val="1000"/>
              </a:spcAft>
              <a:buSzPct val="100000"/>
              <a:buChar char="•"/>
            </a:pPr>
            <a:r>
              <a:rPr lang="en-US" sz="1600" b="1" dirty="0">
                <a:solidFill>
                  <a:schemeClr val="tx1"/>
                </a:solidFill>
              </a:rPr>
              <a:t>Add-ons:</a:t>
            </a:r>
            <a:pPr indent="0" marL="0">
              <a:buNone/>
            </a:pPr>
            <a:r>
              <a:rPr lang="en-US" sz="1600" dirty="0">
                <a:solidFill>
                  <a:schemeClr val="tx1"/>
                </a:solidFill>
              </a:rPr>
              <a:t> vpc-cni, kube-proxy, CoreDNS, EBS CSI, metrics-server.</a:t>
            </a:r>
            <a:endParaRPr lang="en-US" sz="1600" dirty="0"/>
          </a:p>
          <a:p>
            <a:pPr marL="228600" indent="-228600">
              <a:spcAft>
                <a:spcPts val="1000"/>
              </a:spcAft>
              <a:buSzPct val="100000"/>
              <a:buChar char="•"/>
            </a:pPr>
            <a:r>
              <a:rPr lang="en-US" sz="1600" b="1" dirty="0">
                <a:solidFill>
                  <a:schemeClr val="tx1"/>
                </a:solidFill>
              </a:rPr>
              <a:t>Variables:</a:t>
            </a:r>
            <a:pPr indent="0" marL="0">
              <a:buNone/>
            </a:pPr>
            <a:r>
              <a:rPr lang="en-US" sz="1600" dirty="0">
                <a:solidFill>
                  <a:schemeClr val="tx1"/>
                </a:solidFill>
              </a:rPr>
              <a:t> terraform.tfvars.example, no credentials in Git.</a:t>
            </a:r>
            <a:endParaRPr lang="en-US" sz="1600" dirty="0"/>
          </a:p>
        </p:txBody>
      </p:sp>
      <p:pic>
        <p:nvPicPr>
          <p:cNvPr id="6" name="eks console" descr="EKS cluster clinicq-eks: Active, ap-south-1">    </p:cNvPr>
          <p:cNvPicPr>
            <a:picLocks noChangeAspect="1"/>
          </p:cNvPicPr>
          <p:nvPr/>
        </p:nvPicPr>
        <p:blipFill>
          <a:blip r:embed="rId1"/>
          <a:stretch>
            <a:fillRect/>
          </a:stretch>
        </p:blipFill>
        <p:spPr>
          <a:xfrm>
            <a:off x="5454200" y="1371600"/>
            <a:ext cx="5276481" cy="2514600"/>
          </a:xfrm>
          <a:prstGeom prst="rect">
            <a:avLst/>
          </a:prstGeom>
          <a:effectLst>
            <a:outerShdw sx="100000" sy="100000" kx="0" ky="0" algn="bl" rotWithShape="0" blurRad="76200" dist="25400" dir="5400000">
              <a:srgbClr val="000000">
                <a:alpha val="18000"/>
              </a:srgbClr>
            </a:outerShdw>
          </a:effectLst>
        </p:spPr>
      </p:pic>
      <p:sp>
        <p:nvSpPr>
          <p:cNvPr id="7" name="eks console border"/>
          <p:cNvSpPr/>
          <p:nvPr/>
        </p:nvSpPr>
        <p:spPr>
          <a:xfrm>
            <a:off x="5454200" y="1371600"/>
            <a:ext cx="5276481" cy="2514600"/>
          </a:xfrm>
          <a:prstGeom prst="rect">
            <a:avLst/>
          </a:prstGeom>
          <a:ln w="9525">
            <a:solidFill>
              <a:srgbClr val="CBD5E1"/>
            </a:solidFill>
            <a:prstDash val="solid"/>
          </a:ln>
        </p:spPr>
      </p:sp>
      <p:sp>
        <p:nvSpPr>
          <p:cNvPr id="8" name="eks console caption"/>
          <p:cNvSpPr txBox="1"/>
          <p:nvPr/>
        </p:nvSpPr>
        <p:spPr>
          <a:xfrm>
            <a:off x="5454200" y="3931920"/>
            <a:ext cx="5276481" cy="274320"/>
          </a:xfrm>
          <a:prstGeom prst="rect">
            <a:avLst/>
          </a:prstGeom>
          <a:noFill/>
          <a:ln/>
        </p:spPr>
        <p:txBody>
          <a:bodyPr wrap="square" lIns="0" tIns="0" rIns="0" bIns="0" rtlCol="0" anchor="ctr"/>
          <a:lstStyle/>
          <a:p>
            <a:pPr algn="l" indent="0" marL="0">
              <a:buNone/>
            </a:pPr>
            <a:r>
              <a:rPr lang="en-US" sz="1200" dirty="0">
                <a:solidFill>
                  <a:schemeClr val="accent6"/>
                </a:solidFill>
              </a:rPr>
              <a:t>EKS cluster clinicq-eks: Active, ap-south-1</a:t>
            </a:r>
            <a:endParaRPr lang="en-US" sz="1200" dirty="0"/>
          </a:p>
        </p:txBody>
      </p:sp>
      <p:pic>
        <p:nvPicPr>
          <p:cNvPr id="9" name="vpc console" descr="VPC subnets: two public, two private">    </p:cNvPr>
          <p:cNvPicPr>
            <a:picLocks noChangeAspect="1"/>
          </p:cNvPicPr>
          <p:nvPr/>
        </p:nvPicPr>
        <p:blipFill>
          <a:blip r:embed="rId2"/>
          <a:stretch>
            <a:fillRect/>
          </a:stretch>
        </p:blipFill>
        <p:spPr>
          <a:xfrm>
            <a:off x="6071001" y="4297680"/>
            <a:ext cx="4042877" cy="1783080"/>
          </a:xfrm>
          <a:prstGeom prst="rect">
            <a:avLst/>
          </a:prstGeom>
          <a:effectLst>
            <a:outerShdw sx="100000" sy="100000" kx="0" ky="0" algn="bl" rotWithShape="0" blurRad="76200" dist="25400" dir="5400000">
              <a:srgbClr val="000000">
                <a:alpha val="18000"/>
              </a:srgbClr>
            </a:outerShdw>
          </a:effectLst>
        </p:spPr>
      </p:pic>
      <p:sp>
        <p:nvSpPr>
          <p:cNvPr id="10" name="vpc console border"/>
          <p:cNvSpPr/>
          <p:nvPr/>
        </p:nvSpPr>
        <p:spPr>
          <a:xfrm>
            <a:off x="6071001" y="4297680"/>
            <a:ext cx="4042877" cy="1783080"/>
          </a:xfrm>
          <a:prstGeom prst="rect">
            <a:avLst/>
          </a:prstGeom>
          <a:ln w="9525">
            <a:solidFill>
              <a:srgbClr val="CBD5E1"/>
            </a:solidFill>
            <a:prstDash val="solid"/>
          </a:ln>
        </p:spPr>
      </p:sp>
      <p:sp>
        <p:nvSpPr>
          <p:cNvPr id="11" name="vpc console caption"/>
          <p:cNvSpPr txBox="1"/>
          <p:nvPr/>
        </p:nvSpPr>
        <p:spPr>
          <a:xfrm>
            <a:off x="6071001" y="6126480"/>
            <a:ext cx="4042877" cy="274320"/>
          </a:xfrm>
          <a:prstGeom prst="rect">
            <a:avLst/>
          </a:prstGeom>
          <a:noFill/>
          <a:ln/>
        </p:spPr>
        <p:txBody>
          <a:bodyPr wrap="square" lIns="0" tIns="0" rIns="0" bIns="0" rtlCol="0" anchor="ctr"/>
          <a:lstStyle/>
          <a:p>
            <a:pPr algn="l" indent="0" marL="0">
              <a:buNone/>
            </a:pPr>
            <a:r>
              <a:rPr lang="en-US" sz="1200" dirty="0">
                <a:solidFill>
                  <a:schemeClr val="accent6"/>
                </a:solidFill>
              </a:rPr>
              <a:t>VPC subnets: two public, two private</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Plan, apply, destroy</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M7  ·  Terraform  ·  15 pts</a:t>
            </a:r>
            <a:endParaRPr lang="en-US" sz="1400" dirty="0"/>
          </a:p>
        </p:txBody>
      </p:sp>
      <p:pic>
        <p:nvPicPr>
          <p:cNvPr id="5" name="terraform plan" descr="terraform plan: 60 to add, 0 errors">    </p:cNvPr>
          <p:cNvPicPr>
            <a:picLocks noChangeAspect="1"/>
          </p:cNvPicPr>
          <p:nvPr/>
        </p:nvPicPr>
        <p:blipFill>
          <a:blip r:embed="rId1"/>
          <a:stretch>
            <a:fillRect/>
          </a:stretch>
        </p:blipFill>
        <p:spPr>
          <a:xfrm>
            <a:off x="548640" y="1380989"/>
            <a:ext cx="5486400" cy="3090182"/>
          </a:xfrm>
          <a:prstGeom prst="rect">
            <a:avLst/>
          </a:prstGeom>
          <a:effectLst>
            <a:outerShdw sx="100000" sy="100000" kx="0" ky="0" algn="bl" rotWithShape="0" blurRad="76200" dist="25400" dir="5400000">
              <a:srgbClr val="000000">
                <a:alpha val="18000"/>
              </a:srgbClr>
            </a:outerShdw>
          </a:effectLst>
        </p:spPr>
      </p:pic>
      <p:sp>
        <p:nvSpPr>
          <p:cNvPr id="6" name="terraform plan border"/>
          <p:cNvSpPr/>
          <p:nvPr/>
        </p:nvSpPr>
        <p:spPr>
          <a:xfrm>
            <a:off x="548640" y="1380989"/>
            <a:ext cx="5486400" cy="3090182"/>
          </a:xfrm>
          <a:prstGeom prst="rect">
            <a:avLst/>
          </a:prstGeom>
          <a:ln w="9525">
            <a:solidFill>
              <a:srgbClr val="CBD5E1"/>
            </a:solidFill>
            <a:prstDash val="solid"/>
          </a:ln>
        </p:spPr>
      </p:sp>
      <p:sp>
        <p:nvSpPr>
          <p:cNvPr id="7" name="terraform plan caption"/>
          <p:cNvSpPr txBox="1"/>
          <p:nvPr/>
        </p:nvSpPr>
        <p:spPr>
          <a:xfrm>
            <a:off x="548640" y="4516891"/>
            <a:ext cx="5486400" cy="274320"/>
          </a:xfrm>
          <a:prstGeom prst="rect">
            <a:avLst/>
          </a:prstGeom>
          <a:noFill/>
          <a:ln/>
        </p:spPr>
        <p:txBody>
          <a:bodyPr wrap="square" lIns="0" tIns="0" rIns="0" bIns="0" rtlCol="0" anchor="ctr"/>
          <a:lstStyle/>
          <a:p>
            <a:pPr algn="l" indent="0" marL="0">
              <a:buNone/>
            </a:pPr>
            <a:r>
              <a:rPr lang="en-US" sz="1200" dirty="0">
                <a:solidFill>
                  <a:schemeClr val="accent6"/>
                </a:solidFill>
              </a:rPr>
              <a:t>terraform plan: 60 to add, 0 errors</a:t>
            </a:r>
            <a:endParaRPr lang="en-US" sz="1200" dirty="0"/>
          </a:p>
        </p:txBody>
      </p:sp>
      <p:pic>
        <p:nvPicPr>
          <p:cNvPr id="8" name="terraform apply" descr="terraform apply: complete, with outputs">    </p:cNvPr>
          <p:cNvPicPr>
            <a:picLocks noChangeAspect="1"/>
          </p:cNvPicPr>
          <p:nvPr/>
        </p:nvPicPr>
        <p:blipFill>
          <a:blip r:embed="rId2"/>
          <a:stretch>
            <a:fillRect/>
          </a:stretch>
        </p:blipFill>
        <p:spPr>
          <a:xfrm>
            <a:off x="6400800" y="1376875"/>
            <a:ext cx="5212080" cy="3006969"/>
          </a:xfrm>
          <a:prstGeom prst="rect">
            <a:avLst/>
          </a:prstGeom>
          <a:effectLst>
            <a:outerShdw sx="100000" sy="100000" kx="0" ky="0" algn="bl" rotWithShape="0" blurRad="76200" dist="25400" dir="5400000">
              <a:srgbClr val="000000">
                <a:alpha val="18000"/>
              </a:srgbClr>
            </a:outerShdw>
          </a:effectLst>
        </p:spPr>
      </p:pic>
      <p:sp>
        <p:nvSpPr>
          <p:cNvPr id="9" name="terraform apply border"/>
          <p:cNvSpPr/>
          <p:nvPr/>
        </p:nvSpPr>
        <p:spPr>
          <a:xfrm>
            <a:off x="6400800" y="1376875"/>
            <a:ext cx="5212080" cy="3006969"/>
          </a:xfrm>
          <a:prstGeom prst="rect">
            <a:avLst/>
          </a:prstGeom>
          <a:ln w="9525">
            <a:solidFill>
              <a:srgbClr val="CBD5E1"/>
            </a:solidFill>
            <a:prstDash val="solid"/>
          </a:ln>
        </p:spPr>
      </p:sp>
      <p:sp>
        <p:nvSpPr>
          <p:cNvPr id="10" name="terraform apply caption"/>
          <p:cNvSpPr txBox="1"/>
          <p:nvPr/>
        </p:nvSpPr>
        <p:spPr>
          <a:xfrm>
            <a:off x="6400800" y="4429565"/>
            <a:ext cx="5212080" cy="274320"/>
          </a:xfrm>
          <a:prstGeom prst="rect">
            <a:avLst/>
          </a:prstGeom>
          <a:noFill/>
          <a:ln/>
        </p:spPr>
        <p:txBody>
          <a:bodyPr wrap="square" lIns="0" tIns="0" rIns="0" bIns="0" rtlCol="0" anchor="ctr"/>
          <a:lstStyle/>
          <a:p>
            <a:pPr algn="l" indent="0" marL="0">
              <a:buNone/>
            </a:pPr>
            <a:r>
              <a:rPr lang="en-US" sz="1200" dirty="0">
                <a:solidFill>
                  <a:schemeClr val="accent6"/>
                </a:solidFill>
              </a:rPr>
              <a:t>terraform apply: complete, with outputs</a:t>
            </a:r>
            <a:endParaRPr lang="en-US" sz="1200" dirty="0"/>
          </a:p>
        </p:txBody>
      </p:sp>
      <p:pic>
        <p:nvPicPr>
          <p:cNvPr id="11" name="nodes ready" descr="kubectl get nodes: both nodes Ready">    </p:cNvPr>
          <p:cNvPicPr>
            <a:picLocks noChangeAspect="1"/>
          </p:cNvPicPr>
          <p:nvPr/>
        </p:nvPicPr>
        <p:blipFill>
          <a:blip r:embed="rId3"/>
          <a:stretch>
            <a:fillRect/>
          </a:stretch>
        </p:blipFill>
        <p:spPr>
          <a:xfrm>
            <a:off x="7517528" y="4754880"/>
            <a:ext cx="2978624" cy="1371600"/>
          </a:xfrm>
          <a:prstGeom prst="rect">
            <a:avLst/>
          </a:prstGeom>
          <a:effectLst>
            <a:outerShdw sx="100000" sy="100000" kx="0" ky="0" algn="bl" rotWithShape="0" blurRad="76200" dist="25400" dir="5400000">
              <a:srgbClr val="000000">
                <a:alpha val="18000"/>
              </a:srgbClr>
            </a:outerShdw>
          </a:effectLst>
        </p:spPr>
      </p:pic>
      <p:sp>
        <p:nvSpPr>
          <p:cNvPr id="12" name="nodes ready border"/>
          <p:cNvSpPr/>
          <p:nvPr/>
        </p:nvSpPr>
        <p:spPr>
          <a:xfrm>
            <a:off x="7517528" y="4754880"/>
            <a:ext cx="2978624" cy="1371600"/>
          </a:xfrm>
          <a:prstGeom prst="rect">
            <a:avLst/>
          </a:prstGeom>
          <a:ln w="9525">
            <a:solidFill>
              <a:srgbClr val="CBD5E1"/>
            </a:solidFill>
            <a:prstDash val="solid"/>
          </a:ln>
        </p:spPr>
      </p:sp>
      <p:sp>
        <p:nvSpPr>
          <p:cNvPr id="13" name="nodes ready caption"/>
          <p:cNvSpPr txBox="1"/>
          <p:nvPr/>
        </p:nvSpPr>
        <p:spPr>
          <a:xfrm>
            <a:off x="7517528" y="6172200"/>
            <a:ext cx="2978624" cy="274320"/>
          </a:xfrm>
          <a:prstGeom prst="rect">
            <a:avLst/>
          </a:prstGeom>
          <a:noFill/>
          <a:ln/>
        </p:spPr>
        <p:txBody>
          <a:bodyPr wrap="square" lIns="0" tIns="0" rIns="0" bIns="0" rtlCol="0" anchor="ctr"/>
          <a:lstStyle/>
          <a:p>
            <a:pPr algn="l" indent="0" marL="0">
              <a:buNone/>
            </a:pPr>
            <a:r>
              <a:rPr lang="en-US" sz="1200" dirty="0">
                <a:solidFill>
                  <a:schemeClr val="accent6"/>
                </a:solidFill>
              </a:rPr>
              <a:t>kubectl get nodes: both nodes Ready</a:t>
            </a:r>
            <a:endParaRPr lang="en-US" sz="1200" dirty="0"/>
          </a:p>
        </p:txBody>
      </p:sp>
      <p:sp>
        <p:nvSpPr>
          <p:cNvPr id="14" name="bullets"/>
          <p:cNvSpPr txBox="1"/>
          <p:nvPr/>
        </p:nvSpPr>
        <p:spPr>
          <a:xfrm>
            <a:off x="548640" y="4937760"/>
            <a:ext cx="5486400" cy="128016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chemeClr val="tx1"/>
                </a:solidFill>
              </a:rPr>
              <a:t>Plan first,</a:t>
            </a:r>
            <a:pPr indent="0" marL="0">
              <a:buNone/>
            </a:pPr>
            <a:r>
              <a:rPr lang="en-US" sz="1500" dirty="0">
                <a:solidFill>
                  <a:schemeClr val="tx1"/>
                </a:solidFill>
              </a:rPr>
              <a:t> then apply the saved plan.</a:t>
            </a:r>
            <a:endParaRPr lang="en-US" sz="1500" dirty="0"/>
          </a:p>
          <a:p>
            <a:pPr marL="228600" indent="-228600">
              <a:spcAft>
                <a:spcPts val="1000"/>
              </a:spcAft>
              <a:buSzPct val="100000"/>
              <a:buChar char="•"/>
            </a:pPr>
            <a:r>
              <a:rPr lang="en-US" sz="1500" b="1" dirty="0">
                <a:solidFill>
                  <a:schemeClr val="tx1"/>
                </a:solidFill>
              </a:rPr>
              <a:t>Destroy</a:t>
            </a:r>
            <a:pPr indent="0" marL="0">
              <a:buNone/>
            </a:pPr>
            <a:r>
              <a:rPr lang="en-US" sz="1500" dirty="0">
                <a:solidFill>
                  <a:schemeClr val="tx1"/>
                </a:solidFill>
              </a:rPr>
              <a:t> removes everything, so there is no runaway AWS cost.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Kubernetes and Helm</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M8  ·  K8s + Helm  ·  15 pts</a:t>
            </a:r>
            <a:endParaRPr lang="en-US" sz="1400" dirty="0"/>
          </a:p>
        </p:txBody>
      </p:sp>
      <p:sp>
        <p:nvSpPr>
          <p:cNvPr id="5" name="bullets"/>
          <p:cNvSpPr txBox="1"/>
          <p:nvPr/>
        </p:nvSpPr>
        <p:spPr>
          <a:xfrm>
            <a:off x="548640" y="1463040"/>
            <a:ext cx="4754880" cy="457200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chemeClr val="tx1"/>
                </a:solidFill>
              </a:rPr>
              <a:t>Helm chart:</a:t>
            </a:r>
            <a:pPr indent="0" marL="0">
              <a:buNone/>
            </a:pPr>
            <a:r>
              <a:rPr lang="en-US" sz="1600" dirty="0">
                <a:solidFill>
                  <a:schemeClr val="tx1"/>
                </a:solidFill>
              </a:rPr>
              <a:t> Deployments, ClusterIP Services, Ingress, HPA, ServiceMonitor.</a:t>
            </a:r>
            <a:endParaRPr lang="en-US" sz="1600" dirty="0"/>
          </a:p>
          <a:p>
            <a:pPr marL="228600" indent="-228600">
              <a:spcAft>
                <a:spcPts val="1000"/>
              </a:spcAft>
              <a:buSzPct val="100000"/>
              <a:buChar char="•"/>
            </a:pPr>
            <a:r>
              <a:rPr lang="en-US" sz="1600" b="1" dirty="0">
                <a:solidFill>
                  <a:schemeClr val="tx1"/>
                </a:solidFill>
              </a:rPr>
              <a:t>PostgreSQL:</a:t>
            </a:r>
            <a:pPr indent="0" marL="0">
              <a:buNone/>
            </a:pPr>
            <a:r>
              <a:rPr lang="en-US" sz="1600" dirty="0">
                <a:solidFill>
                  <a:schemeClr val="tx1"/>
                </a:solidFill>
              </a:rPr>
              <a:t> StatefulSet on an EBS gp3 volume.</a:t>
            </a:r>
            <a:endParaRPr lang="en-US" sz="1600" dirty="0"/>
          </a:p>
          <a:p>
            <a:pPr marL="228600" indent="-228600">
              <a:spcAft>
                <a:spcPts val="1000"/>
              </a:spcAft>
              <a:buSzPct val="100000"/>
              <a:buChar char="•"/>
            </a:pPr>
            <a:r>
              <a:rPr lang="en-US" sz="1600" b="1" dirty="0">
                <a:solidFill>
                  <a:schemeClr val="tx1"/>
                </a:solidFill>
              </a:rPr>
              <a:t>Migrations:</a:t>
            </a:r>
            <a:pPr indent="0" marL="0">
              <a:buNone/>
            </a:pPr>
            <a:r>
              <a:rPr lang="en-US" sz="1600" dirty="0">
                <a:solidFill>
                  <a:schemeClr val="tx1"/>
                </a:solidFill>
              </a:rPr>
              <a:t> a Helm hook Job, so replicas never race.</a:t>
            </a:r>
            <a:endParaRPr lang="en-US" sz="1600" dirty="0"/>
          </a:p>
          <a:p>
            <a:pPr marL="228600" indent="-228600">
              <a:spcAft>
                <a:spcPts val="1000"/>
              </a:spcAft>
              <a:buSzPct val="100000"/>
              <a:buChar char="•"/>
            </a:pPr>
            <a:r>
              <a:rPr lang="en-US" sz="1600" b="1" dirty="0">
                <a:solidFill>
                  <a:schemeClr val="tx1"/>
                </a:solidFill>
              </a:rPr>
              <a:t>Replicas:</a:t>
            </a:r>
            <a:pPr indent="0" marL="0">
              <a:buNone/>
            </a:pPr>
            <a:r>
              <a:rPr lang="en-US" sz="1600" dirty="0">
                <a:solidFill>
                  <a:schemeClr val="tx1"/>
                </a:solidFill>
              </a:rPr>
              <a:t> 2 backend and 2 frontend.</a:t>
            </a:r>
            <a:endParaRPr lang="en-US" sz="1600" dirty="0"/>
          </a:p>
          <a:p>
            <a:pPr marL="228600" indent="-228600">
              <a:spcAft>
                <a:spcPts val="1000"/>
              </a:spcAft>
              <a:buSzPct val="100000"/>
              <a:buChar char="•"/>
            </a:pPr>
            <a:r>
              <a:rPr lang="en-US" sz="1600" b="1" dirty="0">
                <a:solidFill>
                  <a:schemeClr val="tx1"/>
                </a:solidFill>
              </a:rPr>
              <a:t>Namespace</a:t>
            </a:r>
            <a:pPr indent="0" marL="0">
              <a:buNone/>
            </a:pPr>
            <a:r>
              <a:rPr lang="en-US" sz="1600" dirty="0">
                <a:solidFill>
                  <a:schemeClr val="tx1"/>
                </a:solidFill>
              </a:rPr>
              <a:t> and StorageClass manifests in k8s/.</a:t>
            </a:r>
            <a:endParaRPr lang="en-US" sz="1600" dirty="0"/>
          </a:p>
        </p:txBody>
      </p:sp>
      <p:pic>
        <p:nvPicPr>
          <p:cNvPr id="6" name="pods" descr="kubectl get pods -n clinicq">    </p:cNvPr>
          <p:cNvPicPr>
            <a:picLocks noChangeAspect="1"/>
          </p:cNvPicPr>
          <p:nvPr/>
        </p:nvPicPr>
        <p:blipFill>
          <a:blip r:embed="rId1"/>
          <a:stretch>
            <a:fillRect/>
          </a:stretch>
        </p:blipFill>
        <p:spPr>
          <a:xfrm>
            <a:off x="5577840" y="1485053"/>
            <a:ext cx="6035040" cy="1601893"/>
          </a:xfrm>
          <a:prstGeom prst="rect">
            <a:avLst/>
          </a:prstGeom>
          <a:effectLst>
            <a:outerShdw sx="100000" sy="100000" kx="0" ky="0" algn="bl" rotWithShape="0" blurRad="76200" dist="25400" dir="5400000">
              <a:srgbClr val="000000">
                <a:alpha val="18000"/>
              </a:srgbClr>
            </a:outerShdw>
          </a:effectLst>
        </p:spPr>
      </p:pic>
      <p:sp>
        <p:nvSpPr>
          <p:cNvPr id="7" name="pods border"/>
          <p:cNvSpPr/>
          <p:nvPr/>
        </p:nvSpPr>
        <p:spPr>
          <a:xfrm>
            <a:off x="5577840" y="1485053"/>
            <a:ext cx="6035040" cy="1601893"/>
          </a:xfrm>
          <a:prstGeom prst="rect">
            <a:avLst/>
          </a:prstGeom>
          <a:ln w="9525">
            <a:solidFill>
              <a:srgbClr val="CBD5E1"/>
            </a:solidFill>
            <a:prstDash val="solid"/>
          </a:ln>
        </p:spPr>
      </p:sp>
      <p:sp>
        <p:nvSpPr>
          <p:cNvPr id="8" name="pods caption"/>
          <p:cNvSpPr txBox="1"/>
          <p:nvPr/>
        </p:nvSpPr>
        <p:spPr>
          <a:xfrm>
            <a:off x="5577840" y="3132667"/>
            <a:ext cx="6035040" cy="274320"/>
          </a:xfrm>
          <a:prstGeom prst="rect">
            <a:avLst/>
          </a:prstGeom>
          <a:noFill/>
          <a:ln/>
        </p:spPr>
        <p:txBody>
          <a:bodyPr wrap="square" lIns="0" tIns="0" rIns="0" bIns="0" rtlCol="0" anchor="ctr"/>
          <a:lstStyle/>
          <a:p>
            <a:pPr algn="l" indent="0" marL="0">
              <a:buNone/>
            </a:pPr>
            <a:r>
              <a:rPr lang="en-US" sz="1200" dirty="0">
                <a:solidFill>
                  <a:schemeClr val="accent6"/>
                </a:solidFill>
              </a:rPr>
              <a:t>kubectl get pods -n clinicq</a:t>
            </a:r>
            <a:endParaRPr lang="en-US" sz="1200" dirty="0"/>
          </a:p>
        </p:txBody>
      </p:sp>
      <p:pic>
        <p:nvPicPr>
          <p:cNvPr id="9" name="services" descr="kubectl get svc -n clinicq">    </p:cNvPr>
          <p:cNvPicPr>
            <a:picLocks noChangeAspect="1"/>
          </p:cNvPicPr>
          <p:nvPr/>
        </p:nvPicPr>
        <p:blipFill>
          <a:blip r:embed="rId2"/>
          <a:stretch>
            <a:fillRect/>
          </a:stretch>
        </p:blipFill>
        <p:spPr>
          <a:xfrm>
            <a:off x="5577840" y="3528606"/>
            <a:ext cx="6035040" cy="806627"/>
          </a:xfrm>
          <a:prstGeom prst="rect">
            <a:avLst/>
          </a:prstGeom>
          <a:effectLst>
            <a:outerShdw sx="100000" sy="100000" kx="0" ky="0" algn="bl" rotWithShape="0" blurRad="76200" dist="25400" dir="5400000">
              <a:srgbClr val="000000">
                <a:alpha val="18000"/>
              </a:srgbClr>
            </a:outerShdw>
          </a:effectLst>
        </p:spPr>
      </p:pic>
      <p:sp>
        <p:nvSpPr>
          <p:cNvPr id="10" name="services border"/>
          <p:cNvSpPr/>
          <p:nvPr/>
        </p:nvSpPr>
        <p:spPr>
          <a:xfrm>
            <a:off x="5577840" y="3528606"/>
            <a:ext cx="6035040" cy="806627"/>
          </a:xfrm>
          <a:prstGeom prst="rect">
            <a:avLst/>
          </a:prstGeom>
          <a:ln w="9525">
            <a:solidFill>
              <a:srgbClr val="CBD5E1"/>
            </a:solidFill>
            <a:prstDash val="solid"/>
          </a:ln>
        </p:spPr>
      </p:sp>
      <p:sp>
        <p:nvSpPr>
          <p:cNvPr id="11" name="services caption"/>
          <p:cNvSpPr txBox="1"/>
          <p:nvPr/>
        </p:nvSpPr>
        <p:spPr>
          <a:xfrm>
            <a:off x="5577840" y="4380954"/>
            <a:ext cx="6035040" cy="274320"/>
          </a:xfrm>
          <a:prstGeom prst="rect">
            <a:avLst/>
          </a:prstGeom>
          <a:noFill/>
          <a:ln/>
        </p:spPr>
        <p:txBody>
          <a:bodyPr wrap="square" lIns="0" tIns="0" rIns="0" bIns="0" rtlCol="0" anchor="ctr"/>
          <a:lstStyle/>
          <a:p>
            <a:pPr algn="l" indent="0" marL="0">
              <a:buNone/>
            </a:pPr>
            <a:r>
              <a:rPr lang="en-US" sz="1200" dirty="0">
                <a:solidFill>
                  <a:schemeClr val="accent6"/>
                </a:solidFill>
              </a:rPr>
              <a:t>kubectl get svc -n clinicq</a:t>
            </a:r>
            <a:endParaRPr lang="en-US" sz="1200" dirty="0"/>
          </a:p>
        </p:txBody>
      </p:sp>
      <p:pic>
        <p:nvPicPr>
          <p:cNvPr id="12" name="helm list" descr="helm list -n clinicq">    </p:cNvPr>
          <p:cNvPicPr>
            <a:picLocks noChangeAspect="1"/>
          </p:cNvPicPr>
          <p:nvPr/>
        </p:nvPicPr>
        <p:blipFill>
          <a:blip r:embed="rId3"/>
          <a:stretch>
            <a:fillRect/>
          </a:stretch>
        </p:blipFill>
        <p:spPr>
          <a:xfrm>
            <a:off x="5577840" y="4835687"/>
            <a:ext cx="6035040" cy="478465"/>
          </a:xfrm>
          <a:prstGeom prst="rect">
            <a:avLst/>
          </a:prstGeom>
          <a:effectLst>
            <a:outerShdw sx="100000" sy="100000" kx="0" ky="0" algn="bl" rotWithShape="0" blurRad="76200" dist="25400" dir="5400000">
              <a:srgbClr val="000000">
                <a:alpha val="18000"/>
              </a:srgbClr>
            </a:outerShdw>
          </a:effectLst>
        </p:spPr>
      </p:pic>
      <p:sp>
        <p:nvSpPr>
          <p:cNvPr id="13" name="helm list border"/>
          <p:cNvSpPr/>
          <p:nvPr/>
        </p:nvSpPr>
        <p:spPr>
          <a:xfrm>
            <a:off x="5577840" y="4835687"/>
            <a:ext cx="6035040" cy="478465"/>
          </a:xfrm>
          <a:prstGeom prst="rect">
            <a:avLst/>
          </a:prstGeom>
          <a:ln w="9525">
            <a:solidFill>
              <a:srgbClr val="CBD5E1"/>
            </a:solidFill>
            <a:prstDash val="solid"/>
          </a:ln>
        </p:spPr>
      </p:sp>
      <p:sp>
        <p:nvSpPr>
          <p:cNvPr id="14" name="helm list caption"/>
          <p:cNvSpPr txBox="1"/>
          <p:nvPr/>
        </p:nvSpPr>
        <p:spPr>
          <a:xfrm>
            <a:off x="5577840" y="5359873"/>
            <a:ext cx="6035040" cy="274320"/>
          </a:xfrm>
          <a:prstGeom prst="rect">
            <a:avLst/>
          </a:prstGeom>
          <a:noFill/>
          <a:ln/>
        </p:spPr>
        <p:txBody>
          <a:bodyPr wrap="square" lIns="0" tIns="0" rIns="0" bIns="0" rtlCol="0" anchor="ctr"/>
          <a:lstStyle/>
          <a:p>
            <a:pPr algn="l" indent="0" marL="0">
              <a:buNone/>
            </a:pPr>
            <a:r>
              <a:rPr lang="en-US" sz="1200" dirty="0">
                <a:solidFill>
                  <a:schemeClr val="accent6"/>
                </a:solidFill>
              </a:rPr>
              <a:t>helm list -n clinicq</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Ingress and autoscaling</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M8  ·  K8s + Helm  ·  15 pts</a:t>
            </a:r>
            <a:endParaRPr lang="en-US" sz="1400" dirty="0"/>
          </a:p>
        </p:txBody>
      </p:sp>
      <p:pic>
        <p:nvPicPr>
          <p:cNvPr id="5" name="app via ingress" descr="App served through the Ingress">    </p:cNvPr>
          <p:cNvPicPr>
            <a:picLocks noChangeAspect="1"/>
          </p:cNvPicPr>
          <p:nvPr/>
        </p:nvPicPr>
        <p:blipFill>
          <a:blip r:embed="rId1"/>
          <a:stretch>
            <a:fillRect/>
          </a:stretch>
        </p:blipFill>
        <p:spPr>
          <a:xfrm>
            <a:off x="548640" y="1449172"/>
            <a:ext cx="6035040" cy="3228136"/>
          </a:xfrm>
          <a:prstGeom prst="rect">
            <a:avLst/>
          </a:prstGeom>
          <a:effectLst>
            <a:outerShdw sx="100000" sy="100000" kx="0" ky="0" algn="bl" rotWithShape="0" blurRad="76200" dist="25400" dir="5400000">
              <a:srgbClr val="000000">
                <a:alpha val="18000"/>
              </a:srgbClr>
            </a:outerShdw>
          </a:effectLst>
        </p:spPr>
      </p:pic>
      <p:sp>
        <p:nvSpPr>
          <p:cNvPr id="6" name="app via ingress border"/>
          <p:cNvSpPr/>
          <p:nvPr/>
        </p:nvSpPr>
        <p:spPr>
          <a:xfrm>
            <a:off x="548640" y="1449172"/>
            <a:ext cx="6035040" cy="3228136"/>
          </a:xfrm>
          <a:prstGeom prst="rect">
            <a:avLst/>
          </a:prstGeom>
          <a:ln w="9525">
            <a:solidFill>
              <a:srgbClr val="CBD5E1"/>
            </a:solidFill>
            <a:prstDash val="solid"/>
          </a:ln>
        </p:spPr>
      </p:sp>
      <p:sp>
        <p:nvSpPr>
          <p:cNvPr id="7" name="app via ingress caption"/>
          <p:cNvSpPr txBox="1"/>
          <p:nvPr/>
        </p:nvSpPr>
        <p:spPr>
          <a:xfrm>
            <a:off x="548640" y="4723028"/>
            <a:ext cx="6035040" cy="274320"/>
          </a:xfrm>
          <a:prstGeom prst="rect">
            <a:avLst/>
          </a:prstGeom>
          <a:noFill/>
          <a:ln/>
        </p:spPr>
        <p:txBody>
          <a:bodyPr wrap="square" lIns="0" tIns="0" rIns="0" bIns="0" rtlCol="0" anchor="ctr"/>
          <a:lstStyle/>
          <a:p>
            <a:pPr algn="l" indent="0" marL="0">
              <a:buNone/>
            </a:pPr>
            <a:r>
              <a:rPr lang="en-US" sz="1200" dirty="0">
                <a:solidFill>
                  <a:schemeClr val="accent6"/>
                </a:solidFill>
              </a:rPr>
              <a:t>App served through the Ingress</a:t>
            </a:r>
            <a:endParaRPr lang="en-US" sz="1200" dirty="0"/>
          </a:p>
        </p:txBody>
      </p:sp>
      <p:pic>
        <p:nvPicPr>
          <p:cNvPr id="8" name="hpa" descr="kubectl get hpa: min 2, max 6">    </p:cNvPr>
          <p:cNvPicPr>
            <a:picLocks noChangeAspect="1"/>
          </p:cNvPicPr>
          <p:nvPr/>
        </p:nvPicPr>
        <p:blipFill>
          <a:blip r:embed="rId2"/>
          <a:stretch>
            <a:fillRect/>
          </a:stretch>
        </p:blipFill>
        <p:spPr>
          <a:xfrm>
            <a:off x="6858000" y="1505762"/>
            <a:ext cx="4754880" cy="508917"/>
          </a:xfrm>
          <a:prstGeom prst="rect">
            <a:avLst/>
          </a:prstGeom>
          <a:effectLst>
            <a:outerShdw sx="100000" sy="100000" kx="0" ky="0" algn="bl" rotWithShape="0" blurRad="76200" dist="25400" dir="5400000">
              <a:srgbClr val="000000">
                <a:alpha val="18000"/>
              </a:srgbClr>
            </a:outerShdw>
          </a:effectLst>
        </p:spPr>
      </p:pic>
      <p:sp>
        <p:nvSpPr>
          <p:cNvPr id="9" name="hpa border"/>
          <p:cNvSpPr/>
          <p:nvPr/>
        </p:nvSpPr>
        <p:spPr>
          <a:xfrm>
            <a:off x="6858000" y="1505762"/>
            <a:ext cx="4754880" cy="508917"/>
          </a:xfrm>
          <a:prstGeom prst="rect">
            <a:avLst/>
          </a:prstGeom>
          <a:ln w="9525">
            <a:solidFill>
              <a:srgbClr val="CBD5E1"/>
            </a:solidFill>
            <a:prstDash val="solid"/>
          </a:ln>
        </p:spPr>
      </p:sp>
      <p:sp>
        <p:nvSpPr>
          <p:cNvPr id="10" name="hpa caption"/>
          <p:cNvSpPr txBox="1"/>
          <p:nvPr/>
        </p:nvSpPr>
        <p:spPr>
          <a:xfrm>
            <a:off x="6858000" y="2060398"/>
            <a:ext cx="4754880" cy="274320"/>
          </a:xfrm>
          <a:prstGeom prst="rect">
            <a:avLst/>
          </a:prstGeom>
          <a:noFill/>
          <a:ln/>
        </p:spPr>
        <p:txBody>
          <a:bodyPr wrap="square" lIns="0" tIns="0" rIns="0" bIns="0" rtlCol="0" anchor="ctr"/>
          <a:lstStyle/>
          <a:p>
            <a:pPr algn="l" indent="0" marL="0">
              <a:buNone/>
            </a:pPr>
            <a:r>
              <a:rPr lang="en-US" sz="1200" dirty="0">
                <a:solidFill>
                  <a:schemeClr val="accent6"/>
                </a:solidFill>
              </a:rPr>
              <a:t>kubectl get hpa: min 2, max 6</a:t>
            </a:r>
            <a:endParaRPr lang="en-US" sz="1200" dirty="0"/>
          </a:p>
        </p:txBody>
      </p:sp>
      <p:sp>
        <p:nvSpPr>
          <p:cNvPr id="11" name="stat card backend pods under load"/>
          <p:cNvSpPr/>
          <p:nvPr/>
        </p:nvSpPr>
        <p:spPr>
          <a:xfrm>
            <a:off x="6858000" y="2743200"/>
            <a:ext cx="2286000" cy="1920240"/>
          </a:xfrm>
          <a:prstGeom prst="roundRect">
            <a:avLst>
              <a:gd name="adj" fmla="val 5714"/>
            </a:avLst>
          </a:prstGeom>
          <a:solidFill>
            <a:schemeClr val="bg2"/>
          </a:solidFill>
          <a:ln/>
        </p:spPr>
      </p:sp>
      <p:sp>
        <p:nvSpPr>
          <p:cNvPr id="12" name="stat backend pods under load"/>
          <p:cNvSpPr txBox="1"/>
          <p:nvPr/>
        </p:nvSpPr>
        <p:spPr>
          <a:xfrm>
            <a:off x="6995160" y="2852928"/>
            <a:ext cx="2011680" cy="1056132"/>
          </a:xfrm>
          <a:prstGeom prst="rect">
            <a:avLst/>
          </a:prstGeom>
          <a:noFill/>
          <a:ln/>
        </p:spPr>
        <p:txBody>
          <a:bodyPr wrap="square" lIns="0" tIns="0" rIns="0" bIns="0" rtlCol="0" anchor="ctr"/>
          <a:lstStyle/>
          <a:p>
            <a:pPr algn="l" indent="0" marL="0">
              <a:buNone/>
            </a:pPr>
            <a:r>
              <a:rPr lang="en-US" sz="4400" b="1" dirty="0">
                <a:solidFill>
                  <a:schemeClr val="accent2"/>
                </a:solidFill>
                <a:latin typeface="Cambria" pitchFamily="34" charset="0"/>
                <a:ea typeface="Cambria" pitchFamily="34" charset="-122"/>
                <a:cs typeface="Cambria" pitchFamily="34" charset="-120"/>
              </a:rPr>
              <a:t>2 → 6</a:t>
            </a:r>
            <a:endParaRPr lang="en-US" sz="4400" dirty="0"/>
          </a:p>
        </p:txBody>
      </p:sp>
      <p:sp>
        <p:nvSpPr>
          <p:cNvPr id="13" name="stat label backend pods under load"/>
          <p:cNvSpPr txBox="1"/>
          <p:nvPr/>
        </p:nvSpPr>
        <p:spPr>
          <a:xfrm>
            <a:off x="6995160" y="3933749"/>
            <a:ext cx="2011680" cy="576072"/>
          </a:xfrm>
          <a:prstGeom prst="rect">
            <a:avLst/>
          </a:prstGeom>
          <a:noFill/>
          <a:ln/>
        </p:spPr>
        <p:txBody>
          <a:bodyPr wrap="square" lIns="0" tIns="0" rIns="0" bIns="0" rtlCol="0" anchor="t"/>
          <a:lstStyle/>
          <a:p>
            <a:pPr algn="l" indent="0" marL="0">
              <a:buNone/>
            </a:pPr>
            <a:r>
              <a:rPr lang="en-US" sz="1400" dirty="0">
                <a:solidFill>
                  <a:schemeClr val="tx1"/>
                </a:solidFill>
              </a:rPr>
              <a:t>backend pods under load</a:t>
            </a:r>
            <a:endParaRPr lang="en-US" sz="1400" dirty="0"/>
          </a:p>
        </p:txBody>
      </p:sp>
      <p:sp>
        <p:nvSpPr>
          <p:cNvPr id="14" name="stat card CPU target"/>
          <p:cNvSpPr/>
          <p:nvPr/>
        </p:nvSpPr>
        <p:spPr>
          <a:xfrm>
            <a:off x="9326880" y="2743200"/>
            <a:ext cx="2286000" cy="1920240"/>
          </a:xfrm>
          <a:prstGeom prst="roundRect">
            <a:avLst>
              <a:gd name="adj" fmla="val 5714"/>
            </a:avLst>
          </a:prstGeom>
          <a:solidFill>
            <a:schemeClr val="bg2"/>
          </a:solidFill>
          <a:ln/>
        </p:spPr>
      </p:sp>
      <p:sp>
        <p:nvSpPr>
          <p:cNvPr id="15" name="stat CPU target"/>
          <p:cNvSpPr txBox="1"/>
          <p:nvPr/>
        </p:nvSpPr>
        <p:spPr>
          <a:xfrm>
            <a:off x="9464040" y="2852928"/>
            <a:ext cx="2011680" cy="1056132"/>
          </a:xfrm>
          <a:prstGeom prst="rect">
            <a:avLst/>
          </a:prstGeom>
          <a:noFill/>
          <a:ln/>
        </p:spPr>
        <p:txBody>
          <a:bodyPr wrap="square" lIns="0" tIns="0" rIns="0" bIns="0" rtlCol="0" anchor="ctr"/>
          <a:lstStyle/>
          <a:p>
            <a:pPr algn="l" indent="0" marL="0">
              <a:buNone/>
            </a:pPr>
            <a:r>
              <a:rPr lang="en-US" sz="4400" b="1" dirty="0">
                <a:solidFill>
                  <a:schemeClr val="accent1"/>
                </a:solidFill>
                <a:latin typeface="Cambria" pitchFamily="34" charset="0"/>
                <a:ea typeface="Cambria" pitchFamily="34" charset="-122"/>
                <a:cs typeface="Cambria" pitchFamily="34" charset="-120"/>
              </a:rPr>
              <a:t>50%</a:t>
            </a:r>
            <a:endParaRPr lang="en-US" sz="4400" dirty="0"/>
          </a:p>
        </p:txBody>
      </p:sp>
      <p:sp>
        <p:nvSpPr>
          <p:cNvPr id="16" name="stat label CPU target"/>
          <p:cNvSpPr txBox="1"/>
          <p:nvPr/>
        </p:nvSpPr>
        <p:spPr>
          <a:xfrm>
            <a:off x="9464040" y="3933749"/>
            <a:ext cx="2011680" cy="576072"/>
          </a:xfrm>
          <a:prstGeom prst="rect">
            <a:avLst/>
          </a:prstGeom>
          <a:noFill/>
          <a:ln/>
        </p:spPr>
        <p:txBody>
          <a:bodyPr wrap="square" lIns="0" tIns="0" rIns="0" bIns="0" rtlCol="0" anchor="t"/>
          <a:lstStyle/>
          <a:p>
            <a:pPr algn="l" indent="0" marL="0">
              <a:buNone/>
            </a:pPr>
            <a:r>
              <a:rPr lang="en-US" sz="1400" dirty="0">
                <a:solidFill>
                  <a:schemeClr val="tx1"/>
                </a:solidFill>
              </a:rPr>
              <a:t>CPU target</a:t>
            </a:r>
            <a:endParaRPr lang="en-US" sz="1400" dirty="0"/>
          </a:p>
        </p:txBody>
      </p:sp>
      <p:sp>
        <p:nvSpPr>
          <p:cNvPr id="17" name="bullets"/>
          <p:cNvSpPr txBox="1"/>
          <p:nvPr/>
        </p:nvSpPr>
        <p:spPr>
          <a:xfrm>
            <a:off x="548640" y="5212080"/>
            <a:ext cx="11064240" cy="1097280"/>
          </a:xfrm>
          <a:prstGeom prst="rect">
            <a:avLst/>
          </a:prstGeom>
          <a:noFill/>
          <a:ln/>
        </p:spPr>
        <p:txBody>
          <a:bodyPr wrap="square" lIns="0" tIns="0" rIns="0" bIns="0" rtlCol="0" anchor="t"/>
          <a:lstStyle/>
          <a:p>
            <a:pPr marL="228600" indent="-228600">
              <a:spcAft>
                <a:spcPts val="1000"/>
              </a:spcAft>
              <a:buSzPct val="100000"/>
              <a:buChar char="•"/>
            </a:pPr>
            <a:r>
              <a:rPr lang="en-US" sz="1400" b="1" dirty="0">
                <a:solidFill>
                  <a:schemeClr val="tx1"/>
                </a:solidFill>
              </a:rPr>
              <a:t>Ingress:</a:t>
            </a:r>
            <a:pPr indent="0" marL="0">
              <a:buNone/>
            </a:pPr>
            <a:r>
              <a:rPr lang="en-US" sz="1400" dirty="0">
                <a:solidFill>
                  <a:schemeClr val="tx1"/>
                </a:solidFill>
              </a:rPr>
              <a:t> /api goes to the backend, everything else to the frontend.</a:t>
            </a:r>
            <a:endParaRPr lang="en-US" sz="1400" dirty="0"/>
          </a:p>
          <a:p>
            <a:pPr marL="228600" indent="-228600">
              <a:spcAft>
                <a:spcPts val="1000"/>
              </a:spcAft>
              <a:buSzPct val="100000"/>
              <a:buChar char="•"/>
            </a:pPr>
            <a:r>
              <a:rPr lang="en-US" sz="1400" b="1" dirty="0">
                <a:solidFill>
                  <a:schemeClr val="tx1"/>
                </a:solidFill>
              </a:rPr>
              <a:t>HPA:</a:t>
            </a:r>
            <a:pPr indent="0" marL="0">
              <a:buNone/>
            </a:pPr>
            <a:r>
              <a:rPr lang="en-US" sz="1400" dirty="0">
                <a:solidFill>
                  <a:schemeClr val="tx1"/>
                </a:solidFill>
              </a:rPr>
              <a:t> scaled the backend from 2 to 6 pods during a load test.</a:t>
            </a:r>
            <a:endParaRPr lang="en-US" sz="1400" dirty="0"/>
          </a:p>
          <a:p>
            <a:pPr marL="228600" indent="-228600">
              <a:spcAft>
                <a:spcPts val="1000"/>
              </a:spcAft>
              <a:buSzPct val="100000"/>
              <a:buChar char="•"/>
            </a:pPr>
            <a:r>
              <a:rPr lang="en-US" sz="1400" b="1" dirty="0">
                <a:solidFill>
                  <a:schemeClr val="tx1"/>
                </a:solidFill>
              </a:rPr>
              <a:t>Note:</a:t>
            </a:r>
            <a:pPr indent="0" marL="0">
              <a:buNone/>
            </a:pPr>
            <a:r>
              <a:rPr lang="en-US" sz="1400" dirty="0">
                <a:solidFill>
                  <a:schemeClr val="tx1"/>
                </a:solidFill>
              </a:rPr>
              <a:t> this AWS account cannot create load balancers, so I reach the Ingress with a port-forward.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GitOps with ArgoCD</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GitOps  ·  ArgoCD</a:t>
            </a:r>
            <a:endParaRPr lang="en-US" sz="1400" dirty="0"/>
          </a:p>
        </p:txBody>
      </p:sp>
      <p:sp>
        <p:nvSpPr>
          <p:cNvPr id="5" name="step circle 1"/>
          <p:cNvSpPr/>
          <p:nvPr/>
        </p:nvSpPr>
        <p:spPr>
          <a:xfrm>
            <a:off x="548640" y="1463040"/>
            <a:ext cx="594360" cy="594360"/>
          </a:xfrm>
          <a:prstGeom prst="ellipse">
            <a:avLst/>
          </a:prstGeom>
          <a:solidFill>
            <a:schemeClr val="accent1"/>
          </a:solidFill>
          <a:ln/>
        </p:spPr>
      </p:sp>
      <p:sp>
        <p:nvSpPr>
          <p:cNvPr id="6" name="step number 1"/>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step text 1"/>
          <p:cNvSpPr txBox="1"/>
          <p:nvPr/>
        </p:nvSpPr>
        <p:spPr>
          <a:xfrm>
            <a:off x="1371600" y="1417320"/>
            <a:ext cx="3474720" cy="868680"/>
          </a:xfrm>
          <a:prstGeom prst="rect">
            <a:avLst/>
          </a:prstGeom>
          <a:noFill/>
          <a:ln/>
        </p:spPr>
        <p:txBody>
          <a:bodyPr wrap="square" lIns="0" tIns="0" rIns="0" bIns="0" rtlCol="0" anchor="t"/>
          <a:lstStyle/>
          <a:p>
            <a:pPr indent="0" marL="0">
              <a:buNone/>
            </a:pPr>
            <a:r>
              <a:rPr lang="en-US" sz="1800" b="1" dirty="0">
                <a:solidFill>
                  <a:schemeClr val="tx1"/>
                </a:solidFill>
              </a:rPr>
              <a:t>Push to main</a:t>
            </a:r>
            <a:endParaRPr lang="en-US" sz="1800" dirty="0"/>
          </a:p>
          <a:p>
            <a:pPr indent="0" marL="0">
              <a:buNone/>
            </a:pPr>
            <a:r>
              <a:rPr lang="en-US" sz="1400" dirty="0">
                <a:solidFill>
                  <a:schemeClr val="accent6"/>
                </a:solidFill>
              </a:rPr>
              <a:t>one commit starts everything</a:t>
            </a:r>
            <a:endParaRPr lang="en-US" sz="1800" dirty="0"/>
          </a:p>
        </p:txBody>
      </p:sp>
      <p:sp>
        <p:nvSpPr>
          <p:cNvPr id="8" name="step circle 2"/>
          <p:cNvSpPr/>
          <p:nvPr/>
        </p:nvSpPr>
        <p:spPr>
          <a:xfrm>
            <a:off x="548640" y="2651760"/>
            <a:ext cx="594360" cy="594360"/>
          </a:xfrm>
          <a:prstGeom prst="ellipse">
            <a:avLst/>
          </a:prstGeom>
          <a:solidFill>
            <a:schemeClr val="accent1"/>
          </a:solidFill>
          <a:ln/>
        </p:spPr>
      </p:sp>
      <p:sp>
        <p:nvSpPr>
          <p:cNvPr id="9" name="step number 2"/>
          <p:cNvSpPr txBox="1"/>
          <p:nvPr/>
        </p:nvSpPr>
        <p:spPr>
          <a:xfrm>
            <a:off x="548640" y="26517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step text 2"/>
          <p:cNvSpPr txBox="1"/>
          <p:nvPr/>
        </p:nvSpPr>
        <p:spPr>
          <a:xfrm>
            <a:off x="1371600" y="2606040"/>
            <a:ext cx="3474720" cy="868680"/>
          </a:xfrm>
          <a:prstGeom prst="rect">
            <a:avLst/>
          </a:prstGeom>
          <a:noFill/>
          <a:ln/>
        </p:spPr>
        <p:txBody>
          <a:bodyPr wrap="square" lIns="0" tIns="0" rIns="0" bIns="0" rtlCol="0" anchor="t"/>
          <a:lstStyle/>
          <a:p>
            <a:pPr indent="0" marL="0">
              <a:buNone/>
            </a:pPr>
            <a:r>
              <a:rPr lang="en-US" sz="1800" b="1" dirty="0">
                <a:solidFill>
                  <a:schemeClr val="tx1"/>
                </a:solidFill>
              </a:rPr>
              <a:t>Actions</a:t>
            </a:r>
            <a:endParaRPr lang="en-US" sz="1800" dirty="0"/>
          </a:p>
          <a:p>
            <a:pPr indent="0" marL="0">
              <a:buNone/>
            </a:pPr>
            <a:r>
              <a:rPr lang="en-US" sz="1400" dirty="0">
                <a:solidFill>
                  <a:schemeClr val="accent6"/>
                </a:solidFill>
              </a:rPr>
              <a:t>test, build, scan, push SHA-tagged images</a:t>
            </a:r>
            <a:endParaRPr lang="en-US" sz="1800" dirty="0"/>
          </a:p>
        </p:txBody>
      </p:sp>
      <p:sp>
        <p:nvSpPr>
          <p:cNvPr id="11" name="step circle 3"/>
          <p:cNvSpPr/>
          <p:nvPr/>
        </p:nvSpPr>
        <p:spPr>
          <a:xfrm>
            <a:off x="548640" y="3840480"/>
            <a:ext cx="594360" cy="594360"/>
          </a:xfrm>
          <a:prstGeom prst="ellipse">
            <a:avLst/>
          </a:prstGeom>
          <a:solidFill>
            <a:schemeClr val="accent1"/>
          </a:solidFill>
          <a:ln/>
        </p:spPr>
      </p:sp>
      <p:sp>
        <p:nvSpPr>
          <p:cNvPr id="12" name="step number 3"/>
          <p:cNvSpPr txBox="1"/>
          <p:nvPr/>
        </p:nvSpPr>
        <p:spPr>
          <a:xfrm>
            <a:off x="548640" y="38404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step text 3"/>
          <p:cNvSpPr txBox="1"/>
          <p:nvPr/>
        </p:nvSpPr>
        <p:spPr>
          <a:xfrm>
            <a:off x="1371600" y="3794760"/>
            <a:ext cx="3474720" cy="868680"/>
          </a:xfrm>
          <a:prstGeom prst="rect">
            <a:avLst/>
          </a:prstGeom>
          <a:noFill/>
          <a:ln/>
        </p:spPr>
        <p:txBody>
          <a:bodyPr wrap="square" lIns="0" tIns="0" rIns="0" bIns="0" rtlCol="0" anchor="t"/>
          <a:lstStyle/>
          <a:p>
            <a:pPr indent="0" marL="0">
              <a:buNone/>
            </a:pPr>
            <a:r>
              <a:rPr lang="en-US" sz="1800" b="1" dirty="0">
                <a:solidFill>
                  <a:schemeClr val="tx1"/>
                </a:solidFill>
              </a:rPr>
              <a:t>Commit the tag</a:t>
            </a:r>
            <a:endParaRPr lang="en-US" sz="1800" dirty="0"/>
          </a:p>
          <a:p>
            <a:pPr indent="0" marL="0">
              <a:buNone/>
            </a:pPr>
            <a:r>
              <a:rPr lang="en-US" sz="1400" dirty="0">
                <a:solidFill>
                  <a:schemeClr val="accent6"/>
                </a:solidFill>
              </a:rPr>
              <a:t>pipeline writes the SHA into values-prod.yaml</a:t>
            </a:r>
            <a:endParaRPr lang="en-US" sz="1800" dirty="0"/>
          </a:p>
        </p:txBody>
      </p:sp>
      <p:sp>
        <p:nvSpPr>
          <p:cNvPr id="14" name="step circle 4"/>
          <p:cNvSpPr/>
          <p:nvPr/>
        </p:nvSpPr>
        <p:spPr>
          <a:xfrm>
            <a:off x="548640" y="5029200"/>
            <a:ext cx="594360" cy="594360"/>
          </a:xfrm>
          <a:prstGeom prst="ellipse">
            <a:avLst/>
          </a:prstGeom>
          <a:solidFill>
            <a:schemeClr val="accent1"/>
          </a:solidFill>
          <a:ln/>
        </p:spPr>
      </p:sp>
      <p:sp>
        <p:nvSpPr>
          <p:cNvPr id="15" name="step number 4"/>
          <p:cNvSpPr txBox="1"/>
          <p:nvPr/>
        </p:nvSpPr>
        <p:spPr>
          <a:xfrm>
            <a:off x="548640" y="50292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6" name="step text 4"/>
          <p:cNvSpPr txBox="1"/>
          <p:nvPr/>
        </p:nvSpPr>
        <p:spPr>
          <a:xfrm>
            <a:off x="1371600" y="4983480"/>
            <a:ext cx="3474720" cy="868680"/>
          </a:xfrm>
          <a:prstGeom prst="rect">
            <a:avLst/>
          </a:prstGeom>
          <a:noFill/>
          <a:ln/>
        </p:spPr>
        <p:txBody>
          <a:bodyPr wrap="square" lIns="0" tIns="0" rIns="0" bIns="0" rtlCol="0" anchor="t"/>
          <a:lstStyle/>
          <a:p>
            <a:pPr indent="0" marL="0">
              <a:buNone/>
            </a:pPr>
            <a:r>
              <a:rPr lang="en-US" sz="1800" b="1" dirty="0">
                <a:solidFill>
                  <a:schemeClr val="tx1"/>
                </a:solidFill>
              </a:rPr>
              <a:t>ArgoCD syncs</a:t>
            </a:r>
            <a:endParaRPr lang="en-US" sz="1800" dirty="0"/>
          </a:p>
          <a:p>
            <a:pPr indent="0" marL="0">
              <a:buNone/>
            </a:pPr>
            <a:r>
              <a:rPr lang="en-US" sz="1400" dirty="0">
                <a:solidFill>
                  <a:schemeClr val="accent6"/>
                </a:solidFill>
              </a:rPr>
              <a:t>cluster follows Git: Synced and Healthy</a:t>
            </a:r>
            <a:endParaRPr lang="en-US" sz="1800" dirty="0"/>
          </a:p>
        </p:txBody>
      </p:sp>
      <p:pic>
        <p:nvPicPr>
          <p:cNvPr id="17" name="argocd app" descr="ArgoCD: clinicq Healthy and Synced; last sync is the pipeline's tag commit">    </p:cNvPr>
          <p:cNvPicPr>
            <a:picLocks noChangeAspect="1"/>
          </p:cNvPicPr>
          <p:nvPr/>
        </p:nvPicPr>
        <p:blipFill>
          <a:blip r:embed="rId1"/>
          <a:stretch>
            <a:fillRect/>
          </a:stretch>
        </p:blipFill>
        <p:spPr>
          <a:xfrm>
            <a:off x="5120640" y="1772412"/>
            <a:ext cx="6492240" cy="3678936"/>
          </a:xfrm>
          <a:prstGeom prst="rect">
            <a:avLst/>
          </a:prstGeom>
          <a:effectLst>
            <a:outerShdw sx="100000" sy="100000" kx="0" ky="0" algn="bl" rotWithShape="0" blurRad="76200" dist="25400" dir="5400000">
              <a:srgbClr val="000000">
                <a:alpha val="18000"/>
              </a:srgbClr>
            </a:outerShdw>
          </a:effectLst>
        </p:spPr>
      </p:pic>
      <p:sp>
        <p:nvSpPr>
          <p:cNvPr id="18" name="argocd app border"/>
          <p:cNvSpPr/>
          <p:nvPr/>
        </p:nvSpPr>
        <p:spPr>
          <a:xfrm>
            <a:off x="5120640" y="1772412"/>
            <a:ext cx="6492240" cy="3678936"/>
          </a:xfrm>
          <a:prstGeom prst="rect">
            <a:avLst/>
          </a:prstGeom>
          <a:ln w="9525">
            <a:solidFill>
              <a:srgbClr val="CBD5E1"/>
            </a:solidFill>
            <a:prstDash val="solid"/>
          </a:ln>
        </p:spPr>
      </p:sp>
      <p:sp>
        <p:nvSpPr>
          <p:cNvPr id="19" name="argocd app caption"/>
          <p:cNvSpPr txBox="1"/>
          <p:nvPr/>
        </p:nvSpPr>
        <p:spPr>
          <a:xfrm>
            <a:off x="5120640" y="5497068"/>
            <a:ext cx="6492240" cy="274320"/>
          </a:xfrm>
          <a:prstGeom prst="rect">
            <a:avLst/>
          </a:prstGeom>
          <a:noFill/>
          <a:ln/>
        </p:spPr>
        <p:txBody>
          <a:bodyPr wrap="square" lIns="0" tIns="0" rIns="0" bIns="0" rtlCol="0" anchor="ctr"/>
          <a:lstStyle/>
          <a:p>
            <a:pPr algn="l" indent="0" marL="0">
              <a:buNone/>
            </a:pPr>
            <a:r>
              <a:rPr lang="en-US" sz="1200" dirty="0">
                <a:solidFill>
                  <a:schemeClr val="accent6"/>
                </a:solidFill>
              </a:rPr>
              <a:t>ArgoCD: clinicq Healthy and Synced; last sync is the pipeline's tag commit</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Monitoring</a:t>
            </a:r>
            <a:endParaRPr lang="en-US" sz="3400" dirty="0"/>
          </a:p>
        </p:txBody>
      </p:sp>
      <p:sp>
        <p:nvSpPr>
          <p:cNvPr id="3" name="module chip"/>
          <p:cNvSpPr/>
          <p:nvPr/>
        </p:nvSpPr>
        <p:spPr>
          <a:xfrm>
            <a:off x="9326880" y="566928"/>
            <a:ext cx="2331720" cy="402336"/>
          </a:xfrm>
          <a:prstGeom prst="roundRect">
            <a:avLst>
              <a:gd name="adj" fmla="val 50000"/>
            </a:avLst>
          </a:prstGeom>
          <a:solidFill>
            <a:schemeClr val="accent1"/>
          </a:solidFill>
          <a:ln/>
        </p:spPr>
      </p:sp>
      <p:sp>
        <p:nvSpPr>
          <p:cNvPr id="4" name="module chip text"/>
          <p:cNvSpPr txBox="1"/>
          <p:nvPr/>
        </p:nvSpPr>
        <p:spPr>
          <a:xfrm>
            <a:off x="9326880" y="566928"/>
            <a:ext cx="2331720" cy="402336"/>
          </a:xfrm>
          <a:prstGeom prst="rect">
            <a:avLst/>
          </a:prstGeom>
          <a:noFill/>
          <a:ln/>
        </p:spPr>
        <p:txBody>
          <a:bodyPr wrap="square" lIns="0" tIns="0" rIns="0" bIns="0" rtlCol="0" anchor="ctr"/>
          <a:lstStyle/>
          <a:p>
            <a:pPr algn="ctr" indent="0" marL="0">
              <a:buNone/>
            </a:pPr>
            <a:r>
              <a:rPr lang="en-US" sz="1400" b="1" dirty="0">
                <a:solidFill>
                  <a:schemeClr val="bg1"/>
                </a:solidFill>
              </a:rPr>
              <a:t>M9  ·  Observability  ·  10 pts</a:t>
            </a:r>
            <a:endParaRPr lang="en-US" sz="1400" dirty="0"/>
          </a:p>
        </p:txBody>
      </p:sp>
      <p:pic>
        <p:nvPicPr>
          <p:cNvPr id="5" name="grafana" descr="Grafana: request rate, p95 latency, 5xx, bookings, pods, CPU">    </p:cNvPr>
          <p:cNvPicPr>
            <a:picLocks noChangeAspect="1"/>
          </p:cNvPicPr>
          <p:nvPr/>
        </p:nvPicPr>
        <p:blipFill>
          <a:blip r:embed="rId1"/>
          <a:stretch>
            <a:fillRect/>
          </a:stretch>
        </p:blipFill>
        <p:spPr>
          <a:xfrm>
            <a:off x="5750923" y="1371600"/>
            <a:ext cx="5094514" cy="3566160"/>
          </a:xfrm>
          <a:prstGeom prst="rect">
            <a:avLst/>
          </a:prstGeom>
          <a:effectLst>
            <a:outerShdw sx="100000" sy="100000" kx="0" ky="0" algn="bl" rotWithShape="0" blurRad="76200" dist="25400" dir="5400000">
              <a:srgbClr val="000000">
                <a:alpha val="18000"/>
              </a:srgbClr>
            </a:outerShdw>
          </a:effectLst>
        </p:spPr>
      </p:pic>
      <p:sp>
        <p:nvSpPr>
          <p:cNvPr id="6" name="grafana border"/>
          <p:cNvSpPr/>
          <p:nvPr/>
        </p:nvSpPr>
        <p:spPr>
          <a:xfrm>
            <a:off x="5750923" y="1371600"/>
            <a:ext cx="5094514" cy="3566160"/>
          </a:xfrm>
          <a:prstGeom prst="rect">
            <a:avLst/>
          </a:prstGeom>
          <a:ln w="9525">
            <a:solidFill>
              <a:srgbClr val="CBD5E1"/>
            </a:solidFill>
            <a:prstDash val="solid"/>
          </a:ln>
        </p:spPr>
      </p:sp>
      <p:sp>
        <p:nvSpPr>
          <p:cNvPr id="7" name="grafana caption"/>
          <p:cNvSpPr txBox="1"/>
          <p:nvPr/>
        </p:nvSpPr>
        <p:spPr>
          <a:xfrm>
            <a:off x="5750923" y="4983480"/>
            <a:ext cx="5094514" cy="274320"/>
          </a:xfrm>
          <a:prstGeom prst="rect">
            <a:avLst/>
          </a:prstGeom>
          <a:noFill/>
          <a:ln/>
        </p:spPr>
        <p:txBody>
          <a:bodyPr wrap="square" lIns="0" tIns="0" rIns="0" bIns="0" rtlCol="0" anchor="ctr"/>
          <a:lstStyle/>
          <a:p>
            <a:pPr algn="l" indent="0" marL="0">
              <a:buNone/>
            </a:pPr>
            <a:r>
              <a:rPr lang="en-US" sz="1200" dirty="0">
                <a:solidFill>
                  <a:schemeClr val="accent6"/>
                </a:solidFill>
              </a:rPr>
              <a:t>Grafana: request rate, p95 latency, 5xx, bookings, pods, CPU</a:t>
            </a:r>
            <a:endParaRPr lang="en-US" sz="1200" dirty="0"/>
          </a:p>
        </p:txBody>
      </p:sp>
      <p:pic>
        <p:nvPicPr>
          <p:cNvPr id="8" name="prometheus" descr="Prometheus: clinicq-backend 2/2 UP">    </p:cNvPr>
          <p:cNvPicPr>
            <a:picLocks noChangeAspect="1"/>
          </p:cNvPicPr>
          <p:nvPr/>
        </p:nvPicPr>
        <p:blipFill>
          <a:blip r:embed="rId2"/>
          <a:stretch>
            <a:fillRect/>
          </a:stretch>
        </p:blipFill>
        <p:spPr>
          <a:xfrm>
            <a:off x="750346" y="1371600"/>
            <a:ext cx="3711388" cy="2103120"/>
          </a:xfrm>
          <a:prstGeom prst="rect">
            <a:avLst/>
          </a:prstGeom>
          <a:effectLst>
            <a:outerShdw sx="100000" sy="100000" kx="0" ky="0" algn="bl" rotWithShape="0" blurRad="76200" dist="25400" dir="5400000">
              <a:srgbClr val="000000">
                <a:alpha val="18000"/>
              </a:srgbClr>
            </a:outerShdw>
          </a:effectLst>
        </p:spPr>
      </p:pic>
      <p:sp>
        <p:nvSpPr>
          <p:cNvPr id="9" name="prometheus border"/>
          <p:cNvSpPr/>
          <p:nvPr/>
        </p:nvSpPr>
        <p:spPr>
          <a:xfrm>
            <a:off x="750346" y="1371600"/>
            <a:ext cx="3711388" cy="2103120"/>
          </a:xfrm>
          <a:prstGeom prst="rect">
            <a:avLst/>
          </a:prstGeom>
          <a:ln w="9525">
            <a:solidFill>
              <a:srgbClr val="CBD5E1"/>
            </a:solidFill>
            <a:prstDash val="solid"/>
          </a:ln>
        </p:spPr>
      </p:sp>
      <p:sp>
        <p:nvSpPr>
          <p:cNvPr id="10" name="prometheus caption"/>
          <p:cNvSpPr txBox="1"/>
          <p:nvPr/>
        </p:nvSpPr>
        <p:spPr>
          <a:xfrm>
            <a:off x="750346" y="3520440"/>
            <a:ext cx="3711388" cy="274320"/>
          </a:xfrm>
          <a:prstGeom prst="rect">
            <a:avLst/>
          </a:prstGeom>
          <a:noFill/>
          <a:ln/>
        </p:spPr>
        <p:txBody>
          <a:bodyPr wrap="square" lIns="0" tIns="0" rIns="0" bIns="0" rtlCol="0" anchor="ctr"/>
          <a:lstStyle/>
          <a:p>
            <a:pPr algn="l" indent="0" marL="0">
              <a:buNone/>
            </a:pPr>
            <a:r>
              <a:rPr lang="en-US" sz="1200" dirty="0">
                <a:solidFill>
                  <a:schemeClr val="accent6"/>
                </a:solidFill>
              </a:rPr>
              <a:t>Prometheus: clinicq-backend 2/2 UP</a:t>
            </a:r>
            <a:endParaRPr lang="en-US" sz="1200" dirty="0"/>
          </a:p>
        </p:txBody>
      </p:sp>
      <p:pic>
        <p:nvPicPr>
          <p:cNvPr id="11" name="metrics" descr="/metrics in Prometheus format">    </p:cNvPr>
          <p:cNvPicPr>
            <a:picLocks noChangeAspect="1"/>
          </p:cNvPicPr>
          <p:nvPr/>
        </p:nvPicPr>
        <p:blipFill>
          <a:blip r:embed="rId3"/>
          <a:stretch>
            <a:fillRect/>
          </a:stretch>
        </p:blipFill>
        <p:spPr>
          <a:xfrm>
            <a:off x="937688" y="3886200"/>
            <a:ext cx="3336703" cy="1920240"/>
          </a:xfrm>
          <a:prstGeom prst="rect">
            <a:avLst/>
          </a:prstGeom>
          <a:effectLst>
            <a:outerShdw sx="100000" sy="100000" kx="0" ky="0" algn="bl" rotWithShape="0" blurRad="76200" dist="25400" dir="5400000">
              <a:srgbClr val="000000">
                <a:alpha val="18000"/>
              </a:srgbClr>
            </a:outerShdw>
          </a:effectLst>
        </p:spPr>
      </p:pic>
      <p:sp>
        <p:nvSpPr>
          <p:cNvPr id="12" name="metrics border"/>
          <p:cNvSpPr/>
          <p:nvPr/>
        </p:nvSpPr>
        <p:spPr>
          <a:xfrm>
            <a:off x="937688" y="3886200"/>
            <a:ext cx="3336703" cy="1920240"/>
          </a:xfrm>
          <a:prstGeom prst="rect">
            <a:avLst/>
          </a:prstGeom>
          <a:ln w="9525">
            <a:solidFill>
              <a:srgbClr val="CBD5E1"/>
            </a:solidFill>
            <a:prstDash val="solid"/>
          </a:ln>
        </p:spPr>
      </p:sp>
      <p:sp>
        <p:nvSpPr>
          <p:cNvPr id="13" name="metrics caption"/>
          <p:cNvSpPr txBox="1"/>
          <p:nvPr/>
        </p:nvSpPr>
        <p:spPr>
          <a:xfrm>
            <a:off x="937688" y="5852160"/>
            <a:ext cx="3336703" cy="274320"/>
          </a:xfrm>
          <a:prstGeom prst="rect">
            <a:avLst/>
          </a:prstGeom>
          <a:noFill/>
          <a:ln/>
        </p:spPr>
        <p:txBody>
          <a:bodyPr wrap="square" lIns="0" tIns="0" rIns="0" bIns="0" rtlCol="0" anchor="ctr"/>
          <a:lstStyle/>
          <a:p>
            <a:pPr algn="l" indent="0" marL="0">
              <a:buNone/>
            </a:pPr>
            <a:r>
              <a:rPr lang="en-US" sz="1200" dirty="0">
                <a:solidFill>
                  <a:schemeClr val="accent6"/>
                </a:solidFill>
              </a:rPr>
              <a:t>/metrics in Prometheus format</a:t>
            </a:r>
            <a:endParaRPr lang="en-US" sz="1200" dirty="0"/>
          </a:p>
        </p:txBody>
      </p:sp>
      <p:sp>
        <p:nvSpPr>
          <p:cNvPr id="14" name="monitoring note"/>
          <p:cNvSpPr txBox="1"/>
          <p:nvPr/>
        </p:nvSpPr>
        <p:spPr>
          <a:xfrm>
            <a:off x="4937760" y="5440680"/>
            <a:ext cx="6720840" cy="731520"/>
          </a:xfrm>
          <a:prstGeom prst="rect">
            <a:avLst/>
          </a:prstGeom>
          <a:noFill/>
          <a:ln/>
        </p:spPr>
        <p:txBody>
          <a:bodyPr wrap="square" lIns="0" tIns="0" rIns="0" bIns="0" rtlCol="0" anchor="t"/>
          <a:lstStyle/>
          <a:p>
            <a:pPr indent="0" marL="0">
              <a:buNone/>
            </a:pPr>
            <a:r>
              <a:rPr lang="en-US" sz="1500" dirty="0">
                <a:solidFill>
                  <a:schemeClr val="tx1"/>
                </a:solidFill>
              </a:rPr>
              <a:t>A ServiceMonitor tells Prometheus to scrape both backend pods. A custom counter tracks bookings and cancellations.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Problems I solved</a:t>
            </a:r>
            <a:endParaRPr lang="en-US" sz="3400" dirty="0"/>
          </a:p>
        </p:txBody>
      </p:sp>
      <p:graphicFrame>
        <p:nvGraphicFramePr>
          <p:cNvPr id="17" name="problem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200400"/>
                <a:gridCol w="4023360"/>
                <a:gridCol w="3840480"/>
              </a:tblGrid>
              <a:tr h="658368">
                <a:tc>
                  <a:txBody>
                    <a:bodyPr/>
                    <a:lstStyle/>
                    <a:p>
                      <a:pPr indent="0" marL="0">
                        <a:buNone/>
                      </a:pPr>
                      <a:r>
                        <a:rPr lang="en-US" sz="1400" b="1" dirty="0">
                          <a:solidFill>
                            <a:srgbClr val="FFFFFF"/>
                          </a:solidFill>
                        </a:rPr>
                        <a:t>Symptom</a:t>
                      </a:r>
                      <a:endParaRPr lang="en-US" sz="14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766E"/>
                    </a:solidFill>
                  </a:tcPr>
                </a:tc>
                <a:tc>
                  <a:txBody>
                    <a:bodyPr/>
                    <a:lstStyle/>
                    <a:p>
                      <a:pPr indent="0" marL="0">
                        <a:buNone/>
                      </a:pPr>
                      <a:r>
                        <a:rPr lang="en-US" sz="1400" b="1" dirty="0">
                          <a:solidFill>
                            <a:srgbClr val="FFFFFF"/>
                          </a:solidFill>
                        </a:rPr>
                        <a:t>Root cause</a:t>
                      </a:r>
                      <a:endParaRPr lang="en-US" sz="14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766E"/>
                    </a:solidFill>
                  </a:tcPr>
                </a:tc>
                <a:tc>
                  <a:txBody>
                    <a:bodyPr/>
                    <a:lstStyle/>
                    <a:p>
                      <a:pPr indent="0" marL="0">
                        <a:buNone/>
                      </a:pPr>
                      <a:r>
                        <a:rPr lang="en-US" sz="1400" b="1" dirty="0">
                          <a:solidFill>
                            <a:srgbClr val="FFFFFF"/>
                          </a:solidFill>
                        </a:rPr>
                        <a:t>Fix</a:t>
                      </a:r>
                      <a:endParaRPr lang="en-US" sz="14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766E"/>
                    </a:solidFill>
                  </a:tcPr>
                </a:tc>
              </a:tr>
              <a:tr h="658368">
                <a:tc>
                  <a:txBody>
                    <a:bodyPr/>
                    <a:lstStyle/>
                    <a:p>
                      <a:pPr indent="0" marL="0">
                        <a:buNone/>
                      </a:pPr>
                      <a:r>
                        <a:rPr lang="en-US" sz="1300" dirty="0">
                          <a:solidFill>
                            <a:srgbClr val="10231F"/>
                          </a:solidFill>
                        </a:rPr>
                        <a:t>Node group stuck CREATING</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Free Tier plan rejects t3.medium</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Use m7i-flex.large</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10231F"/>
                          </a:solidFill>
                        </a:rPr>
                        <a:t>Nodes never Ready</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Networking add-ons created after the nodes</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before_compute for vpc-cni and kube-proxy</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10231F"/>
                          </a:solidFill>
                        </a:rPr>
                        <a:t>Postgres volume Pending</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No default StorageClass for the CSI driver</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Default gp3 StorageClass</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10231F"/>
                          </a:solidFill>
                        </a:rPr>
                        <a:t>HPA showed &lt;unknown&gt;</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Port 10251 to metrics-server was blocked</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Security group rule in Terraform</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10231F"/>
                          </a:solidFill>
                        </a:rPr>
                        <a:t>Ingress had no address</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Account cannot create load balancers</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Port-forward to the Ingress controller</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10231F"/>
                          </a:solidFill>
                        </a:rPr>
                        <a:t>Trivy and Terraform errors</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Bad action tag; expiring credentials</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0231F"/>
                          </a:solidFill>
                        </a:rPr>
                        <a:t>Trivy container; auto-refreshing profile</a:t>
                      </a:r>
                      <a:endParaRPr lang="en-US" sz="13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Troubleshooting lab</a:t>
            </a:r>
            <a:endParaRPr lang="en-US" sz="3400" dirty="0"/>
          </a:p>
        </p:txBody>
      </p:sp>
      <p:sp>
        <p:nvSpPr>
          <p:cNvPr id="3" name="lab card 1"/>
          <p:cNvSpPr/>
          <p:nvPr/>
        </p:nvSpPr>
        <p:spPr>
          <a:xfrm>
            <a:off x="548640" y="1463040"/>
            <a:ext cx="3566160" cy="4023360"/>
          </a:xfrm>
          <a:prstGeom prst="roundRect">
            <a:avLst>
              <a:gd name="adj" fmla="val 3077"/>
            </a:avLst>
          </a:prstGeom>
          <a:solidFill>
            <a:schemeClr val="bg2"/>
          </a:solidFill>
          <a:ln/>
        </p:spPr>
      </p:sp>
      <p:sp>
        <p:nvSpPr>
          <p:cNvPr id="4" name="lab number 1"/>
          <p:cNvSpPr/>
          <p:nvPr/>
        </p:nvSpPr>
        <p:spPr>
          <a:xfrm>
            <a:off x="777240" y="1691640"/>
            <a:ext cx="548640" cy="548640"/>
          </a:xfrm>
          <a:prstGeom prst="ellipse">
            <a:avLst/>
          </a:prstGeom>
          <a:solidFill>
            <a:schemeClr val="accent1"/>
          </a:solidFill>
          <a:ln/>
        </p:spPr>
      </p:sp>
      <p:sp>
        <p:nvSpPr>
          <p:cNvPr id="5" name="lab number text 1"/>
          <p:cNvSpPr txBox="1"/>
          <p:nvPr/>
        </p:nvSpPr>
        <p:spPr>
          <a:xfrm>
            <a:off x="777240"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lab title 1"/>
          <p:cNvSpPr txBox="1"/>
          <p:nvPr/>
        </p:nvSpPr>
        <p:spPr>
          <a:xfrm>
            <a:off x="1463040" y="1645920"/>
            <a:ext cx="2468880"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Bad image tag</a:t>
            </a:r>
            <a:endParaRPr lang="en-US" sz="2000" dirty="0"/>
          </a:p>
        </p:txBody>
      </p:sp>
      <p:sp>
        <p:nvSpPr>
          <p:cNvPr id="7" name="lab body 1"/>
          <p:cNvSpPr txBox="1"/>
          <p:nvPr/>
        </p:nvSpPr>
        <p:spPr>
          <a:xfrm>
            <a:off x="777240" y="2514600"/>
            <a:ext cx="3108960" cy="2834640"/>
          </a:xfrm>
          <a:prstGeom prst="rect">
            <a:avLst/>
          </a:prstGeom>
          <a:noFill/>
          <a:ln/>
        </p:spPr>
        <p:txBody>
          <a:bodyPr wrap="square" lIns="0" tIns="0" rIns="0" bIns="0" rtlCol="0" anchor="t"/>
          <a:lstStyle/>
          <a:p>
            <a:pPr indent="0" marL="0">
              <a:buNone/>
            </a:pPr>
            <a:r>
              <a:rPr lang="en-US" sz="1600" b="1" dirty="0">
                <a:solidFill>
                  <a:schemeClr val="accent1"/>
                </a:solidFill>
              </a:rPr>
              <a:t>Symptom</a:t>
            </a:r>
            <a:endParaRPr lang="en-US" sz="1600" dirty="0"/>
          </a:p>
          <a:p>
            <a:pPr indent="0" marL="0">
              <a:spcAft>
                <a:spcPts val="1200"/>
              </a:spcAft>
              <a:buNone/>
            </a:pPr>
            <a:r>
              <a:rPr lang="en-US" sz="1600" dirty="0">
                <a:solidFill>
                  <a:schemeClr val="tx1"/>
                </a:solidFill>
              </a:rPr>
              <a:t>ImagePullBackOff</a:t>
            </a:r>
            <a:endParaRPr lang="en-US" sz="1600" dirty="0"/>
          </a:p>
          <a:p>
            <a:pPr indent="0" marL="0">
              <a:buNone/>
            </a:pPr>
            <a:r>
              <a:rPr lang="en-US" sz="1600" b="1" dirty="0">
                <a:solidFill>
                  <a:schemeClr val="accent1"/>
                </a:solidFill>
              </a:rPr>
              <a:t>Diagnose</a:t>
            </a:r>
            <a:endParaRPr lang="en-US" sz="1600" dirty="0"/>
          </a:p>
          <a:p>
            <a:pPr indent="0" marL="0">
              <a:spcAft>
                <a:spcPts val="1200"/>
              </a:spcAft>
              <a:buNone/>
            </a:pPr>
            <a:r>
              <a:rPr lang="en-US" sz="1300" dirty="0">
                <a:solidFill>
                  <a:schemeClr val="tx1"/>
                </a:solidFill>
                <a:latin typeface="Courier New" pitchFamily="34" charset="0"/>
                <a:ea typeface="Courier New" pitchFamily="34" charset="-122"/>
                <a:cs typeface="Courier New" pitchFamily="34" charset="-120"/>
              </a:rPr>
              <a:t>kubectl describe pod</a:t>
            </a:r>
            <a:endParaRPr lang="en-US" sz="1600" dirty="0"/>
          </a:p>
          <a:p>
            <a:pPr indent="0" marL="0">
              <a:spcAft>
                <a:spcPts val="1200"/>
              </a:spcAft>
              <a:buNone/>
            </a:pPr>
            <a:r>
              <a:rPr lang="en-US" sz="1300" dirty="0">
                <a:solidFill>
                  <a:schemeClr val="tx1"/>
                </a:solidFill>
                <a:latin typeface="Courier New" pitchFamily="34" charset="0"/>
                <a:ea typeface="Courier New" pitchFamily="34" charset="-122"/>
                <a:cs typeface="Courier New" pitchFamily="34" charset="-120"/>
              </a:rPr>
              <a:t>kubectl get events</a:t>
            </a:r>
            <a:endParaRPr lang="en-US" sz="1600" dirty="0"/>
          </a:p>
          <a:p>
            <a:pPr indent="0" marL="0">
              <a:buNone/>
            </a:pPr>
            <a:r>
              <a:rPr lang="en-US" sz="1600" b="1" dirty="0">
                <a:solidFill>
                  <a:schemeClr val="accent1"/>
                </a:solidFill>
              </a:rPr>
              <a:t>Fix</a:t>
            </a:r>
            <a:endParaRPr lang="en-US" sz="1600" dirty="0"/>
          </a:p>
          <a:p>
            <a:pPr indent="0" marL="0">
              <a:buNone/>
            </a:pPr>
            <a:r>
              <a:rPr lang="en-US" sz="1600" dirty="0">
                <a:solidFill>
                  <a:schemeClr val="tx1"/>
                </a:solidFill>
              </a:rPr>
              <a:t>Correct the image tag</a:t>
            </a:r>
            <a:endParaRPr lang="en-US" sz="1600" dirty="0"/>
          </a:p>
        </p:txBody>
      </p:sp>
      <p:sp>
        <p:nvSpPr>
          <p:cNvPr id="8" name="lab card 2"/>
          <p:cNvSpPr/>
          <p:nvPr/>
        </p:nvSpPr>
        <p:spPr>
          <a:xfrm>
            <a:off x="4297680" y="1463040"/>
            <a:ext cx="3566160" cy="4023360"/>
          </a:xfrm>
          <a:prstGeom prst="roundRect">
            <a:avLst>
              <a:gd name="adj" fmla="val 3077"/>
            </a:avLst>
          </a:prstGeom>
          <a:solidFill>
            <a:schemeClr val="bg2"/>
          </a:solidFill>
          <a:ln/>
        </p:spPr>
      </p:sp>
      <p:sp>
        <p:nvSpPr>
          <p:cNvPr id="9" name="lab number 2"/>
          <p:cNvSpPr/>
          <p:nvPr/>
        </p:nvSpPr>
        <p:spPr>
          <a:xfrm>
            <a:off x="4526280" y="1691640"/>
            <a:ext cx="548640" cy="548640"/>
          </a:xfrm>
          <a:prstGeom prst="ellipse">
            <a:avLst/>
          </a:prstGeom>
          <a:solidFill>
            <a:schemeClr val="accent1"/>
          </a:solidFill>
          <a:ln/>
        </p:spPr>
      </p:sp>
      <p:sp>
        <p:nvSpPr>
          <p:cNvPr id="10" name="lab number text 2"/>
          <p:cNvSpPr txBox="1"/>
          <p:nvPr/>
        </p:nvSpPr>
        <p:spPr>
          <a:xfrm>
            <a:off x="4526280"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lab title 2"/>
          <p:cNvSpPr txBox="1"/>
          <p:nvPr/>
        </p:nvSpPr>
        <p:spPr>
          <a:xfrm>
            <a:off x="5212080" y="1645920"/>
            <a:ext cx="2468880"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Service has no endpoints</a:t>
            </a:r>
            <a:endParaRPr lang="en-US" sz="2000" dirty="0"/>
          </a:p>
        </p:txBody>
      </p:sp>
      <p:sp>
        <p:nvSpPr>
          <p:cNvPr id="12" name="lab body 2"/>
          <p:cNvSpPr txBox="1"/>
          <p:nvPr/>
        </p:nvSpPr>
        <p:spPr>
          <a:xfrm>
            <a:off x="4526280" y="2514600"/>
            <a:ext cx="3108960" cy="2834640"/>
          </a:xfrm>
          <a:prstGeom prst="rect">
            <a:avLst/>
          </a:prstGeom>
          <a:noFill/>
          <a:ln/>
        </p:spPr>
        <p:txBody>
          <a:bodyPr wrap="square" lIns="0" tIns="0" rIns="0" bIns="0" rtlCol="0" anchor="t"/>
          <a:lstStyle/>
          <a:p>
            <a:pPr indent="0" marL="0">
              <a:buNone/>
            </a:pPr>
            <a:r>
              <a:rPr lang="en-US" sz="1600" b="1" dirty="0">
                <a:solidFill>
                  <a:schemeClr val="accent1"/>
                </a:solidFill>
              </a:rPr>
              <a:t>Symptom</a:t>
            </a:r>
            <a:endParaRPr lang="en-US" sz="1600" dirty="0"/>
          </a:p>
          <a:p>
            <a:pPr indent="0" marL="0">
              <a:spcAft>
                <a:spcPts val="1200"/>
              </a:spcAft>
              <a:buNone/>
            </a:pPr>
            <a:r>
              <a:rPr lang="en-US" sz="1600" dirty="0">
                <a:solidFill>
                  <a:schemeClr val="tx1"/>
                </a:solidFill>
              </a:rPr>
              <a:t>Label mismatch</a:t>
            </a:r>
            <a:endParaRPr lang="en-US" sz="1600" dirty="0"/>
          </a:p>
          <a:p>
            <a:pPr indent="0" marL="0">
              <a:buNone/>
            </a:pPr>
            <a:r>
              <a:rPr lang="en-US" sz="1600" b="1" dirty="0">
                <a:solidFill>
                  <a:schemeClr val="accent1"/>
                </a:solidFill>
              </a:rPr>
              <a:t>Diagnose</a:t>
            </a:r>
            <a:endParaRPr lang="en-US" sz="1600" dirty="0"/>
          </a:p>
          <a:p>
            <a:pPr indent="0" marL="0">
              <a:spcAft>
                <a:spcPts val="1200"/>
              </a:spcAft>
              <a:buNone/>
            </a:pPr>
            <a:r>
              <a:rPr lang="en-US" sz="1300" dirty="0">
                <a:solidFill>
                  <a:schemeClr val="tx1"/>
                </a:solidFill>
                <a:latin typeface="Courier New" pitchFamily="34" charset="0"/>
                <a:ea typeface="Courier New" pitchFamily="34" charset="-122"/>
                <a:cs typeface="Courier New" pitchFamily="34" charset="-120"/>
              </a:rPr>
              <a:t>kubectl get endpoints</a:t>
            </a:r>
            <a:endParaRPr lang="en-US" sz="1600" dirty="0"/>
          </a:p>
          <a:p>
            <a:pPr indent="0" marL="0">
              <a:spcAft>
                <a:spcPts val="1200"/>
              </a:spcAft>
              <a:buNone/>
            </a:pPr>
            <a:r>
              <a:rPr lang="en-US" sz="1300" dirty="0">
                <a:solidFill>
                  <a:schemeClr val="tx1"/>
                </a:solidFill>
                <a:latin typeface="Courier New" pitchFamily="34" charset="0"/>
                <a:ea typeface="Courier New" pitchFamily="34" charset="-122"/>
                <a:cs typeface="Courier New" pitchFamily="34" charset="-120"/>
              </a:rPr>
              <a:t>kubectl get pods --show-labels</a:t>
            </a:r>
            <a:endParaRPr lang="en-US" sz="1600" dirty="0"/>
          </a:p>
          <a:p>
            <a:pPr indent="0" marL="0">
              <a:buNone/>
            </a:pPr>
            <a:r>
              <a:rPr lang="en-US" sz="1600" b="1" dirty="0">
                <a:solidFill>
                  <a:schemeClr val="accent1"/>
                </a:solidFill>
              </a:rPr>
              <a:t>Fix</a:t>
            </a:r>
            <a:endParaRPr lang="en-US" sz="1600" dirty="0"/>
          </a:p>
          <a:p>
            <a:pPr indent="0" marL="0">
              <a:buNone/>
            </a:pPr>
            <a:r>
              <a:rPr lang="en-US" sz="1600" dirty="0">
                <a:solidFill>
                  <a:schemeClr val="tx1"/>
                </a:solidFill>
              </a:rPr>
              <a:t>Patch the Service selector</a:t>
            </a:r>
            <a:endParaRPr lang="en-US" sz="1600" dirty="0"/>
          </a:p>
        </p:txBody>
      </p:sp>
      <p:sp>
        <p:nvSpPr>
          <p:cNvPr id="13" name="lab card 3"/>
          <p:cNvSpPr/>
          <p:nvPr/>
        </p:nvSpPr>
        <p:spPr>
          <a:xfrm>
            <a:off x="8046720" y="1463040"/>
            <a:ext cx="3566160" cy="4023360"/>
          </a:xfrm>
          <a:prstGeom prst="roundRect">
            <a:avLst>
              <a:gd name="adj" fmla="val 3077"/>
            </a:avLst>
          </a:prstGeom>
          <a:solidFill>
            <a:schemeClr val="bg2"/>
          </a:solidFill>
          <a:ln/>
        </p:spPr>
      </p:sp>
      <p:sp>
        <p:nvSpPr>
          <p:cNvPr id="14" name="lab number 3"/>
          <p:cNvSpPr/>
          <p:nvPr/>
        </p:nvSpPr>
        <p:spPr>
          <a:xfrm>
            <a:off x="8275320" y="1691640"/>
            <a:ext cx="548640" cy="548640"/>
          </a:xfrm>
          <a:prstGeom prst="ellipse">
            <a:avLst/>
          </a:prstGeom>
          <a:solidFill>
            <a:schemeClr val="accent1"/>
          </a:solidFill>
          <a:ln/>
        </p:spPr>
      </p:sp>
      <p:sp>
        <p:nvSpPr>
          <p:cNvPr id="15" name="lab number text 3"/>
          <p:cNvSpPr txBox="1"/>
          <p:nvPr/>
        </p:nvSpPr>
        <p:spPr>
          <a:xfrm>
            <a:off x="8275320"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lab title 3"/>
          <p:cNvSpPr txBox="1"/>
          <p:nvPr/>
        </p:nvSpPr>
        <p:spPr>
          <a:xfrm>
            <a:off x="8961120" y="1645920"/>
            <a:ext cx="2468880"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Pod never Ready</a:t>
            </a:r>
            <a:endParaRPr lang="en-US" sz="2000" dirty="0"/>
          </a:p>
        </p:txBody>
      </p:sp>
      <p:sp>
        <p:nvSpPr>
          <p:cNvPr id="17" name="lab body 3"/>
          <p:cNvSpPr txBox="1"/>
          <p:nvPr/>
        </p:nvSpPr>
        <p:spPr>
          <a:xfrm>
            <a:off x="8275320" y="2514600"/>
            <a:ext cx="3108960" cy="2834640"/>
          </a:xfrm>
          <a:prstGeom prst="rect">
            <a:avLst/>
          </a:prstGeom>
          <a:noFill/>
          <a:ln/>
        </p:spPr>
        <p:txBody>
          <a:bodyPr wrap="square" lIns="0" tIns="0" rIns="0" bIns="0" rtlCol="0" anchor="t"/>
          <a:lstStyle/>
          <a:p>
            <a:pPr indent="0" marL="0">
              <a:buNone/>
            </a:pPr>
            <a:r>
              <a:rPr lang="en-US" sz="1600" b="1" dirty="0">
                <a:solidFill>
                  <a:schemeClr val="accent1"/>
                </a:solidFill>
              </a:rPr>
              <a:t>Symptom</a:t>
            </a:r>
            <a:endParaRPr lang="en-US" sz="1600" dirty="0"/>
          </a:p>
          <a:p>
            <a:pPr indent="0" marL="0">
              <a:spcAft>
                <a:spcPts val="1200"/>
              </a:spcAft>
              <a:buNone/>
            </a:pPr>
            <a:r>
              <a:rPr lang="en-US" sz="1600" dirty="0">
                <a:solidFill>
                  <a:schemeClr val="tx1"/>
                </a:solidFill>
              </a:rPr>
              <a:t>Wrong readiness path</a:t>
            </a:r>
            <a:endParaRPr lang="en-US" sz="1600" dirty="0"/>
          </a:p>
          <a:p>
            <a:pPr indent="0" marL="0">
              <a:buNone/>
            </a:pPr>
            <a:r>
              <a:rPr lang="en-US" sz="1600" b="1" dirty="0">
                <a:solidFill>
                  <a:schemeClr val="accent1"/>
                </a:solidFill>
              </a:rPr>
              <a:t>Diagnose</a:t>
            </a:r>
            <a:endParaRPr lang="en-US" sz="1600" dirty="0"/>
          </a:p>
          <a:p>
            <a:pPr indent="0" marL="0">
              <a:spcAft>
                <a:spcPts val="1200"/>
              </a:spcAft>
              <a:buNone/>
            </a:pPr>
            <a:r>
              <a:rPr lang="en-US" sz="1300" dirty="0">
                <a:solidFill>
                  <a:schemeClr val="tx1"/>
                </a:solidFill>
                <a:latin typeface="Courier New" pitchFamily="34" charset="0"/>
                <a:ea typeface="Courier New" pitchFamily="34" charset="-122"/>
                <a:cs typeface="Courier New" pitchFamily="34" charset="-120"/>
              </a:rPr>
              <a:t>kubectl describe pod</a:t>
            </a:r>
            <a:endParaRPr lang="en-US" sz="1600" dirty="0"/>
          </a:p>
          <a:p>
            <a:pPr indent="0" marL="0">
              <a:spcAft>
                <a:spcPts val="1200"/>
              </a:spcAft>
              <a:buNone/>
            </a:pPr>
            <a:r>
              <a:rPr lang="en-US" sz="1300" dirty="0">
                <a:solidFill>
                  <a:schemeClr val="tx1"/>
                </a:solidFill>
                <a:latin typeface="Courier New" pitchFamily="34" charset="0"/>
                <a:ea typeface="Courier New" pitchFamily="34" charset="-122"/>
                <a:cs typeface="Courier New" pitchFamily="34" charset="-120"/>
              </a:rPr>
              <a:t>look at probe events</a:t>
            </a:r>
            <a:endParaRPr lang="en-US" sz="1600" dirty="0"/>
          </a:p>
          <a:p>
            <a:pPr indent="0" marL="0">
              <a:buNone/>
            </a:pPr>
            <a:r>
              <a:rPr lang="en-US" sz="1600" b="1" dirty="0">
                <a:solidFill>
                  <a:schemeClr val="accent1"/>
                </a:solidFill>
              </a:rPr>
              <a:t>Fix</a:t>
            </a:r>
            <a:endParaRPr lang="en-US" sz="1600" dirty="0"/>
          </a:p>
          <a:p>
            <a:pPr indent="0" marL="0">
              <a:buNone/>
            </a:pPr>
            <a:r>
              <a:rPr lang="en-US" sz="1600" dirty="0">
                <a:solidFill>
                  <a:schemeClr val="tx1"/>
                </a:solidFill>
              </a:rPr>
              <a:t>Fix the probe path</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595360" cy="82296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Limits and next steps</a:t>
            </a:r>
            <a:endParaRPr lang="en-US" sz="3400" dirty="0"/>
          </a:p>
        </p:txBody>
      </p:sp>
      <p:sp>
        <p:nvSpPr>
          <p:cNvPr id="3" name="limits heading"/>
          <p:cNvSpPr txBox="1"/>
          <p:nvPr/>
        </p:nvSpPr>
        <p:spPr>
          <a:xfrm>
            <a:off x="548640" y="1417320"/>
            <a:ext cx="5303520" cy="457200"/>
          </a:xfrm>
          <a:prstGeom prst="rect">
            <a:avLst/>
          </a:prstGeom>
          <a:noFill/>
          <a:ln/>
        </p:spPr>
        <p:txBody>
          <a:bodyPr wrap="square" lIns="0" tIns="0" rIns="0" bIns="0" rtlCol="0" anchor="ctr"/>
          <a:lstStyle/>
          <a:p>
            <a:pPr indent="0" marL="0">
              <a:buNone/>
            </a:pPr>
            <a:r>
              <a:rPr lang="en-US" sz="2400" b="1" dirty="0">
                <a:solidFill>
                  <a:schemeClr val="accent4"/>
                </a:solidFill>
                <a:latin typeface="Cambria" pitchFamily="34" charset="0"/>
                <a:ea typeface="Cambria" pitchFamily="34" charset="-122"/>
                <a:cs typeface="Cambria" pitchFamily="34" charset="-120"/>
              </a:rPr>
              <a:t>Known limits</a:t>
            </a:r>
            <a:endParaRPr lang="en-US" sz="2400" dirty="0"/>
          </a:p>
        </p:txBody>
      </p:sp>
      <p:sp>
        <p:nvSpPr>
          <p:cNvPr id="4" name="bullets"/>
          <p:cNvSpPr txBox="1"/>
          <p:nvPr/>
        </p:nvSpPr>
        <p:spPr>
          <a:xfrm>
            <a:off x="548640" y="1965960"/>
            <a:ext cx="5303520" cy="40233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The AWS account cannot create load balancers, so the Ingress is reached by port-forward.</a:t>
            </a:r>
            <a:endParaRPr lang="en-US" sz="1600" dirty="0"/>
          </a:p>
          <a:p>
            <a:pPr marL="228600" indent="-228600">
              <a:spcAft>
                <a:spcPts val="1000"/>
              </a:spcAft>
              <a:buSzPct val="100000"/>
              <a:buChar char="•"/>
            </a:pPr>
            <a:r>
              <a:rPr lang="en-US" sz="1600" dirty="0">
                <a:solidFill>
                  <a:schemeClr val="tx1"/>
                </a:solidFill>
              </a:rPr>
              <a:t>PostgreSQL runs inside the cluster for a self-contained capstone.</a:t>
            </a:r>
            <a:endParaRPr lang="en-US" sz="1600" dirty="0"/>
          </a:p>
        </p:txBody>
      </p:sp>
      <p:sp>
        <p:nvSpPr>
          <p:cNvPr id="5" name="next heading"/>
          <p:cNvSpPr txBox="1"/>
          <p:nvPr/>
        </p:nvSpPr>
        <p:spPr>
          <a:xfrm>
            <a:off x="6400800" y="1417320"/>
            <a:ext cx="521208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What I would do next</a:t>
            </a:r>
            <a:endParaRPr lang="en-US" sz="2400" dirty="0"/>
          </a:p>
        </p:txBody>
      </p:sp>
      <p:sp>
        <p:nvSpPr>
          <p:cNvPr id="6" name="bullets"/>
          <p:cNvSpPr txBox="1"/>
          <p:nvPr/>
        </p:nvSpPr>
        <p:spPr>
          <a:xfrm>
            <a:off x="6400800" y="1965960"/>
            <a:ext cx="5212080" cy="40233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Amazon RDS for backups and Multi-AZ failover.</a:t>
            </a:r>
            <a:endParaRPr lang="en-US" sz="1600" dirty="0"/>
          </a:p>
          <a:p>
            <a:pPr marL="228600" indent="-228600">
              <a:spcAft>
                <a:spcPts val="1000"/>
              </a:spcAft>
              <a:buSzPct val="100000"/>
              <a:buChar char="•"/>
            </a:pPr>
            <a:r>
              <a:rPr lang="en-US" sz="1600" dirty="0">
                <a:solidFill>
                  <a:schemeClr val="tx1"/>
                </a:solidFill>
              </a:rPr>
              <a:t>A real load balancer with DNS and TLS.</a:t>
            </a:r>
            <a:endParaRPr lang="en-US" sz="1600" dirty="0"/>
          </a:p>
          <a:p>
            <a:pPr marL="228600" indent="-228600">
              <a:spcAft>
                <a:spcPts val="1000"/>
              </a:spcAft>
              <a:buSzPct val="100000"/>
              <a:buChar char="•"/>
            </a:pPr>
            <a:r>
              <a:rPr lang="en-US" sz="1600" dirty="0">
                <a:solidFill>
                  <a:schemeClr val="tx1"/>
                </a:solidFill>
              </a:rPr>
              <a:t>Secrets in AWS Secrets Manager.</a:t>
            </a:r>
            <a:endParaRPr lang="en-US" sz="1600" dirty="0"/>
          </a:p>
          <a:p>
            <a:pPr marL="228600" indent="-228600">
              <a:spcAft>
                <a:spcPts val="1000"/>
              </a:spcAft>
              <a:buSzPct val="100000"/>
              <a:buChar char="•"/>
            </a:pPr>
            <a:r>
              <a:rPr lang="en-US" sz="1600" dirty="0">
                <a:solidFill>
                  <a:schemeClr val="tx1"/>
                </a:solidFill>
              </a:rPr>
              <a:t>OIDC-based credentials so the pipeline can deploy without stored secrets.</a:t>
            </a:r>
            <a:endParaRPr lang="en-US" sz="1600" dirty="0"/>
          </a:p>
          <a:p>
            <a:pPr marL="228600" indent="-228600">
              <a:spcAft>
                <a:spcPts val="1000"/>
              </a:spcAft>
              <a:buSzPct val="100000"/>
              <a:buChar char="•"/>
            </a:pPr>
            <a:r>
              <a:rPr lang="en-US" sz="1600" dirty="0">
                <a:solidFill>
                  <a:schemeClr val="tx1"/>
                </a:solidFill>
              </a:rPr>
              <a:t>Alert rules for error rate and latency.</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losing title"/>
          <p:cNvSpPr txBox="1"/>
          <p:nvPr/>
        </p:nvSpPr>
        <p:spPr>
          <a:xfrm>
            <a:off x="548640" y="822960"/>
            <a:ext cx="10972800" cy="91440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Demo and questions</a:t>
            </a:r>
            <a:endParaRPr lang="en-US" sz="4800" dirty="0"/>
          </a:p>
        </p:txBody>
      </p:sp>
      <p:sp>
        <p:nvSpPr>
          <p:cNvPr id="3" name="closing subtitle"/>
          <p:cNvSpPr txBox="1"/>
          <p:nvPr/>
        </p:nvSpPr>
        <p:spPr>
          <a:xfrm>
            <a:off x="548640" y="1783080"/>
            <a:ext cx="10972800" cy="548640"/>
          </a:xfrm>
          <a:prstGeom prst="rect">
            <a:avLst/>
          </a:prstGeom>
          <a:noFill/>
          <a:ln/>
        </p:spPr>
        <p:txBody>
          <a:bodyPr wrap="square" lIns="0" tIns="0" rIns="0" bIns="0" rtlCol="0" anchor="ctr"/>
          <a:lstStyle/>
          <a:p>
            <a:pPr indent="0" marL="0">
              <a:buNone/>
            </a:pPr>
            <a:r>
              <a:rPr lang="en-US" sz="2000" dirty="0">
                <a:solidFill>
                  <a:srgbClr val="CFE3DE"/>
                </a:solidFill>
              </a:rPr>
              <a:t>Commit, pipeline, image, Helm deploy, Ingress, Grafana, then a live break and fix.</a:t>
            </a:r>
            <a:endParaRPr lang="en-US" sz="2000" dirty="0"/>
          </a:p>
        </p:txBody>
      </p:sp>
      <p:sp>
        <p:nvSpPr>
          <p:cNvPr id="4" name="module M1 App"/>
          <p:cNvSpPr/>
          <p:nvPr/>
        </p:nvSpPr>
        <p:spPr>
          <a:xfrm>
            <a:off x="548640" y="3108960"/>
            <a:ext cx="2057400" cy="868680"/>
          </a:xfrm>
          <a:prstGeom prst="roundRect">
            <a:avLst>
              <a:gd name="adj" fmla="val 12632"/>
            </a:avLst>
          </a:prstGeom>
          <a:solidFill>
            <a:srgbClr val="17332E"/>
          </a:solidFill>
          <a:ln w="15875">
            <a:solidFill>
              <a:srgbClr val="0F766E"/>
            </a:solidFill>
            <a:prstDash val="solid"/>
          </a:ln>
        </p:spPr>
      </p:sp>
      <p:sp>
        <p:nvSpPr>
          <p:cNvPr id="5" name="module text M1 App"/>
          <p:cNvSpPr txBox="1"/>
          <p:nvPr/>
        </p:nvSpPr>
        <p:spPr>
          <a:xfrm>
            <a:off x="548640" y="3108960"/>
            <a:ext cx="2057400" cy="868680"/>
          </a:xfrm>
          <a:prstGeom prst="rect">
            <a:avLst/>
          </a:prstGeom>
          <a:noFill/>
          <a:ln/>
        </p:spPr>
        <p:txBody>
          <a:bodyPr wrap="square" lIns="635" tIns="635" rIns="635" bIns="635" rtlCol="0" anchor="ctr"/>
          <a:lstStyle/>
          <a:p>
            <a:pPr algn="ctr" indent="0" marL="0">
              <a:buNone/>
            </a:pPr>
            <a:r>
              <a:rPr lang="en-US" sz="1500" b="1" dirty="0">
                <a:solidFill>
                  <a:srgbClr val="F59E0B"/>
                </a:solidFill>
              </a:rPr>
              <a:t>✓ </a:t>
            </a:r>
            <a:pPr algn="ctr" indent="0" marL="0">
              <a:buNone/>
            </a:pPr>
            <a:r>
              <a:rPr lang="en-US" sz="1500" dirty="0">
                <a:solidFill>
                  <a:srgbClr val="FFFFFF"/>
                </a:solidFill>
              </a:rPr>
              <a:t>M1 App</a:t>
            </a:r>
            <a:endParaRPr lang="en-US" sz="1500" dirty="0"/>
          </a:p>
        </p:txBody>
      </p:sp>
      <p:sp>
        <p:nvSpPr>
          <p:cNvPr id="6" name="module M2 Tests"/>
          <p:cNvSpPr/>
          <p:nvPr/>
        </p:nvSpPr>
        <p:spPr>
          <a:xfrm>
            <a:off x="2788920" y="3108960"/>
            <a:ext cx="2057400" cy="868680"/>
          </a:xfrm>
          <a:prstGeom prst="roundRect">
            <a:avLst>
              <a:gd name="adj" fmla="val 12632"/>
            </a:avLst>
          </a:prstGeom>
          <a:solidFill>
            <a:srgbClr val="17332E"/>
          </a:solidFill>
          <a:ln w="15875">
            <a:solidFill>
              <a:srgbClr val="0F766E"/>
            </a:solidFill>
            <a:prstDash val="solid"/>
          </a:ln>
        </p:spPr>
      </p:sp>
      <p:sp>
        <p:nvSpPr>
          <p:cNvPr id="7" name="module text M2 Tests"/>
          <p:cNvSpPr txBox="1"/>
          <p:nvPr/>
        </p:nvSpPr>
        <p:spPr>
          <a:xfrm>
            <a:off x="2788920" y="3108960"/>
            <a:ext cx="2057400" cy="868680"/>
          </a:xfrm>
          <a:prstGeom prst="rect">
            <a:avLst/>
          </a:prstGeom>
          <a:noFill/>
          <a:ln/>
        </p:spPr>
        <p:txBody>
          <a:bodyPr wrap="square" lIns="635" tIns="635" rIns="635" bIns="635" rtlCol="0" anchor="ctr"/>
          <a:lstStyle/>
          <a:p>
            <a:pPr algn="ctr" indent="0" marL="0">
              <a:buNone/>
            </a:pPr>
            <a:r>
              <a:rPr lang="en-US" sz="1500" b="1" dirty="0">
                <a:solidFill>
                  <a:srgbClr val="F59E0B"/>
                </a:solidFill>
              </a:rPr>
              <a:t>✓ </a:t>
            </a:r>
            <a:pPr algn="ctr" indent="0" marL="0">
              <a:buNone/>
            </a:pPr>
            <a:r>
              <a:rPr lang="en-US" sz="1500" dirty="0">
                <a:solidFill>
                  <a:srgbClr val="FFFFFF"/>
                </a:solidFill>
              </a:rPr>
              <a:t>M2 Tests</a:t>
            </a:r>
            <a:endParaRPr lang="en-US" sz="1500" dirty="0"/>
          </a:p>
        </p:txBody>
      </p:sp>
      <p:sp>
        <p:nvSpPr>
          <p:cNvPr id="8" name="module M3 Git"/>
          <p:cNvSpPr/>
          <p:nvPr/>
        </p:nvSpPr>
        <p:spPr>
          <a:xfrm>
            <a:off x="5029200" y="3108960"/>
            <a:ext cx="2057400" cy="868680"/>
          </a:xfrm>
          <a:prstGeom prst="roundRect">
            <a:avLst>
              <a:gd name="adj" fmla="val 12632"/>
            </a:avLst>
          </a:prstGeom>
          <a:solidFill>
            <a:srgbClr val="17332E"/>
          </a:solidFill>
          <a:ln w="15875">
            <a:solidFill>
              <a:srgbClr val="0F766E"/>
            </a:solidFill>
            <a:prstDash val="solid"/>
          </a:ln>
        </p:spPr>
      </p:sp>
      <p:sp>
        <p:nvSpPr>
          <p:cNvPr id="9" name="module text M3 Git"/>
          <p:cNvSpPr txBox="1"/>
          <p:nvPr/>
        </p:nvSpPr>
        <p:spPr>
          <a:xfrm>
            <a:off x="5029200" y="3108960"/>
            <a:ext cx="2057400" cy="868680"/>
          </a:xfrm>
          <a:prstGeom prst="rect">
            <a:avLst/>
          </a:prstGeom>
          <a:noFill/>
          <a:ln/>
        </p:spPr>
        <p:txBody>
          <a:bodyPr wrap="square" lIns="635" tIns="635" rIns="635" bIns="635" rtlCol="0" anchor="ctr"/>
          <a:lstStyle/>
          <a:p>
            <a:pPr algn="ctr" indent="0" marL="0">
              <a:buNone/>
            </a:pPr>
            <a:r>
              <a:rPr lang="en-US" sz="1500" b="1" dirty="0">
                <a:solidFill>
                  <a:srgbClr val="F59E0B"/>
                </a:solidFill>
              </a:rPr>
              <a:t>✓ </a:t>
            </a:r>
            <a:pPr algn="ctr" indent="0" marL="0">
              <a:buNone/>
            </a:pPr>
            <a:r>
              <a:rPr lang="en-US" sz="1500" dirty="0">
                <a:solidFill>
                  <a:srgbClr val="FFFFFF"/>
                </a:solidFill>
              </a:rPr>
              <a:t>M3 Git</a:t>
            </a:r>
            <a:endParaRPr lang="en-US" sz="1500" dirty="0"/>
          </a:p>
        </p:txBody>
      </p:sp>
      <p:sp>
        <p:nvSpPr>
          <p:cNvPr id="10" name="module M4 Docker"/>
          <p:cNvSpPr/>
          <p:nvPr/>
        </p:nvSpPr>
        <p:spPr>
          <a:xfrm>
            <a:off x="7269480" y="3108960"/>
            <a:ext cx="2057400" cy="868680"/>
          </a:xfrm>
          <a:prstGeom prst="roundRect">
            <a:avLst>
              <a:gd name="adj" fmla="val 12632"/>
            </a:avLst>
          </a:prstGeom>
          <a:solidFill>
            <a:srgbClr val="17332E"/>
          </a:solidFill>
          <a:ln w="15875">
            <a:solidFill>
              <a:srgbClr val="0F766E"/>
            </a:solidFill>
            <a:prstDash val="solid"/>
          </a:ln>
        </p:spPr>
      </p:sp>
      <p:sp>
        <p:nvSpPr>
          <p:cNvPr id="11" name="module text M4 Docker"/>
          <p:cNvSpPr txBox="1"/>
          <p:nvPr/>
        </p:nvSpPr>
        <p:spPr>
          <a:xfrm>
            <a:off x="7269480" y="3108960"/>
            <a:ext cx="2057400" cy="868680"/>
          </a:xfrm>
          <a:prstGeom prst="rect">
            <a:avLst/>
          </a:prstGeom>
          <a:noFill/>
          <a:ln/>
        </p:spPr>
        <p:txBody>
          <a:bodyPr wrap="square" lIns="635" tIns="635" rIns="635" bIns="635" rtlCol="0" anchor="ctr"/>
          <a:lstStyle/>
          <a:p>
            <a:pPr algn="ctr" indent="0" marL="0">
              <a:buNone/>
            </a:pPr>
            <a:r>
              <a:rPr lang="en-US" sz="1500" b="1" dirty="0">
                <a:solidFill>
                  <a:srgbClr val="F59E0B"/>
                </a:solidFill>
              </a:rPr>
              <a:t>✓ </a:t>
            </a:r>
            <a:pPr algn="ctr" indent="0" marL="0">
              <a:buNone/>
            </a:pPr>
            <a:r>
              <a:rPr lang="en-US" sz="1500" dirty="0">
                <a:solidFill>
                  <a:srgbClr val="FFFFFF"/>
                </a:solidFill>
              </a:rPr>
              <a:t>M4 Docker</a:t>
            </a:r>
            <a:endParaRPr lang="en-US" sz="1500" dirty="0"/>
          </a:p>
        </p:txBody>
      </p:sp>
      <p:sp>
        <p:nvSpPr>
          <p:cNvPr id="12" name="module M5 CI/CD"/>
          <p:cNvSpPr/>
          <p:nvPr/>
        </p:nvSpPr>
        <p:spPr>
          <a:xfrm>
            <a:off x="9509760" y="3108960"/>
            <a:ext cx="2057400" cy="868680"/>
          </a:xfrm>
          <a:prstGeom prst="roundRect">
            <a:avLst>
              <a:gd name="adj" fmla="val 12632"/>
            </a:avLst>
          </a:prstGeom>
          <a:solidFill>
            <a:srgbClr val="17332E"/>
          </a:solidFill>
          <a:ln w="15875">
            <a:solidFill>
              <a:srgbClr val="0F766E"/>
            </a:solidFill>
            <a:prstDash val="solid"/>
          </a:ln>
        </p:spPr>
      </p:sp>
      <p:sp>
        <p:nvSpPr>
          <p:cNvPr id="13" name="module text M5 CI/CD"/>
          <p:cNvSpPr txBox="1"/>
          <p:nvPr/>
        </p:nvSpPr>
        <p:spPr>
          <a:xfrm>
            <a:off x="9509760" y="3108960"/>
            <a:ext cx="2057400" cy="868680"/>
          </a:xfrm>
          <a:prstGeom prst="rect">
            <a:avLst/>
          </a:prstGeom>
          <a:noFill/>
          <a:ln/>
        </p:spPr>
        <p:txBody>
          <a:bodyPr wrap="square" lIns="635" tIns="635" rIns="635" bIns="635" rtlCol="0" anchor="ctr"/>
          <a:lstStyle/>
          <a:p>
            <a:pPr algn="ctr" indent="0" marL="0">
              <a:buNone/>
            </a:pPr>
            <a:r>
              <a:rPr lang="en-US" sz="1500" b="1" dirty="0">
                <a:solidFill>
                  <a:srgbClr val="F59E0B"/>
                </a:solidFill>
              </a:rPr>
              <a:t>✓ </a:t>
            </a:r>
            <a:pPr algn="ctr" indent="0" marL="0">
              <a:buNone/>
            </a:pPr>
            <a:r>
              <a:rPr lang="en-US" sz="1500" dirty="0">
                <a:solidFill>
                  <a:srgbClr val="FFFFFF"/>
                </a:solidFill>
              </a:rPr>
              <a:t>M5 CI/CD</a:t>
            </a:r>
            <a:endParaRPr lang="en-US" sz="1500" dirty="0"/>
          </a:p>
        </p:txBody>
      </p:sp>
      <p:sp>
        <p:nvSpPr>
          <p:cNvPr id="14" name="module M6 Trivy"/>
          <p:cNvSpPr/>
          <p:nvPr/>
        </p:nvSpPr>
        <p:spPr>
          <a:xfrm>
            <a:off x="548640" y="4206240"/>
            <a:ext cx="2057400" cy="868680"/>
          </a:xfrm>
          <a:prstGeom prst="roundRect">
            <a:avLst>
              <a:gd name="adj" fmla="val 12632"/>
            </a:avLst>
          </a:prstGeom>
          <a:solidFill>
            <a:srgbClr val="17332E"/>
          </a:solidFill>
          <a:ln w="15875">
            <a:solidFill>
              <a:srgbClr val="0F766E"/>
            </a:solidFill>
            <a:prstDash val="solid"/>
          </a:ln>
        </p:spPr>
      </p:sp>
      <p:sp>
        <p:nvSpPr>
          <p:cNvPr id="15" name="module text M6 Trivy"/>
          <p:cNvSpPr txBox="1"/>
          <p:nvPr/>
        </p:nvSpPr>
        <p:spPr>
          <a:xfrm>
            <a:off x="548640" y="4206240"/>
            <a:ext cx="2057400" cy="868680"/>
          </a:xfrm>
          <a:prstGeom prst="rect">
            <a:avLst/>
          </a:prstGeom>
          <a:noFill/>
          <a:ln/>
        </p:spPr>
        <p:txBody>
          <a:bodyPr wrap="square" lIns="635" tIns="635" rIns="635" bIns="635" rtlCol="0" anchor="ctr"/>
          <a:lstStyle/>
          <a:p>
            <a:pPr algn="ctr" indent="0" marL="0">
              <a:buNone/>
            </a:pPr>
            <a:r>
              <a:rPr lang="en-US" sz="1500" b="1" dirty="0">
                <a:solidFill>
                  <a:srgbClr val="F59E0B"/>
                </a:solidFill>
              </a:rPr>
              <a:t>✓ </a:t>
            </a:r>
            <a:pPr algn="ctr" indent="0" marL="0">
              <a:buNone/>
            </a:pPr>
            <a:r>
              <a:rPr lang="en-US" sz="1500" dirty="0">
                <a:solidFill>
                  <a:srgbClr val="FFFFFF"/>
                </a:solidFill>
              </a:rPr>
              <a:t>M6 Trivy</a:t>
            </a:r>
            <a:endParaRPr lang="en-US" sz="1500" dirty="0"/>
          </a:p>
        </p:txBody>
      </p:sp>
      <p:sp>
        <p:nvSpPr>
          <p:cNvPr id="16" name="module M7 Terraform"/>
          <p:cNvSpPr/>
          <p:nvPr/>
        </p:nvSpPr>
        <p:spPr>
          <a:xfrm>
            <a:off x="2788920" y="4206240"/>
            <a:ext cx="2057400" cy="868680"/>
          </a:xfrm>
          <a:prstGeom prst="roundRect">
            <a:avLst>
              <a:gd name="adj" fmla="val 12632"/>
            </a:avLst>
          </a:prstGeom>
          <a:solidFill>
            <a:srgbClr val="17332E"/>
          </a:solidFill>
          <a:ln w="15875">
            <a:solidFill>
              <a:srgbClr val="0F766E"/>
            </a:solidFill>
            <a:prstDash val="solid"/>
          </a:ln>
        </p:spPr>
      </p:sp>
      <p:sp>
        <p:nvSpPr>
          <p:cNvPr id="17" name="module text M7 Terraform"/>
          <p:cNvSpPr txBox="1"/>
          <p:nvPr/>
        </p:nvSpPr>
        <p:spPr>
          <a:xfrm>
            <a:off x="2788920" y="4206240"/>
            <a:ext cx="2057400" cy="868680"/>
          </a:xfrm>
          <a:prstGeom prst="rect">
            <a:avLst/>
          </a:prstGeom>
          <a:noFill/>
          <a:ln/>
        </p:spPr>
        <p:txBody>
          <a:bodyPr wrap="square" lIns="635" tIns="635" rIns="635" bIns="635" rtlCol="0" anchor="ctr"/>
          <a:lstStyle/>
          <a:p>
            <a:pPr algn="ctr" indent="0" marL="0">
              <a:buNone/>
            </a:pPr>
            <a:r>
              <a:rPr lang="en-US" sz="1500" b="1" dirty="0">
                <a:solidFill>
                  <a:srgbClr val="F59E0B"/>
                </a:solidFill>
              </a:rPr>
              <a:t>✓ </a:t>
            </a:r>
            <a:pPr algn="ctr" indent="0" marL="0">
              <a:buNone/>
            </a:pPr>
            <a:r>
              <a:rPr lang="en-US" sz="1500" dirty="0">
                <a:solidFill>
                  <a:srgbClr val="FFFFFF"/>
                </a:solidFill>
              </a:rPr>
              <a:t>M7 Terraform</a:t>
            </a:r>
            <a:endParaRPr lang="en-US" sz="1500" dirty="0"/>
          </a:p>
        </p:txBody>
      </p:sp>
      <p:sp>
        <p:nvSpPr>
          <p:cNvPr id="18" name="module M8 K8s + Helm"/>
          <p:cNvSpPr/>
          <p:nvPr/>
        </p:nvSpPr>
        <p:spPr>
          <a:xfrm>
            <a:off x="5029200" y="4206240"/>
            <a:ext cx="2057400" cy="868680"/>
          </a:xfrm>
          <a:prstGeom prst="roundRect">
            <a:avLst>
              <a:gd name="adj" fmla="val 12632"/>
            </a:avLst>
          </a:prstGeom>
          <a:solidFill>
            <a:srgbClr val="17332E"/>
          </a:solidFill>
          <a:ln w="15875">
            <a:solidFill>
              <a:srgbClr val="0F766E"/>
            </a:solidFill>
            <a:prstDash val="solid"/>
          </a:ln>
        </p:spPr>
      </p:sp>
      <p:sp>
        <p:nvSpPr>
          <p:cNvPr id="19" name="module text M8 K8s + Helm"/>
          <p:cNvSpPr txBox="1"/>
          <p:nvPr/>
        </p:nvSpPr>
        <p:spPr>
          <a:xfrm>
            <a:off x="5029200" y="4206240"/>
            <a:ext cx="2057400" cy="868680"/>
          </a:xfrm>
          <a:prstGeom prst="rect">
            <a:avLst/>
          </a:prstGeom>
          <a:noFill/>
          <a:ln/>
        </p:spPr>
        <p:txBody>
          <a:bodyPr wrap="square" lIns="635" tIns="635" rIns="635" bIns="635" rtlCol="0" anchor="ctr"/>
          <a:lstStyle/>
          <a:p>
            <a:pPr algn="ctr" indent="0" marL="0">
              <a:buNone/>
            </a:pPr>
            <a:r>
              <a:rPr lang="en-US" sz="1500" b="1" dirty="0">
                <a:solidFill>
                  <a:srgbClr val="F59E0B"/>
                </a:solidFill>
              </a:rPr>
              <a:t>✓ </a:t>
            </a:r>
            <a:pPr algn="ctr" indent="0" marL="0">
              <a:buNone/>
            </a:pPr>
            <a:r>
              <a:rPr lang="en-US" sz="1500" dirty="0">
                <a:solidFill>
                  <a:srgbClr val="FFFFFF"/>
                </a:solidFill>
              </a:rPr>
              <a:t>M8 K8s + Helm</a:t>
            </a:r>
            <a:endParaRPr lang="en-US" sz="1500" dirty="0"/>
          </a:p>
        </p:txBody>
      </p:sp>
      <p:sp>
        <p:nvSpPr>
          <p:cNvPr id="20" name="module M9 Monitoring"/>
          <p:cNvSpPr/>
          <p:nvPr/>
        </p:nvSpPr>
        <p:spPr>
          <a:xfrm>
            <a:off x="7269480" y="4206240"/>
            <a:ext cx="2057400" cy="868680"/>
          </a:xfrm>
          <a:prstGeom prst="roundRect">
            <a:avLst>
              <a:gd name="adj" fmla="val 12632"/>
            </a:avLst>
          </a:prstGeom>
          <a:solidFill>
            <a:srgbClr val="17332E"/>
          </a:solidFill>
          <a:ln w="15875">
            <a:solidFill>
              <a:srgbClr val="0F766E"/>
            </a:solidFill>
            <a:prstDash val="solid"/>
          </a:ln>
        </p:spPr>
      </p:sp>
      <p:sp>
        <p:nvSpPr>
          <p:cNvPr id="21" name="module text M9 Monitoring"/>
          <p:cNvSpPr txBox="1"/>
          <p:nvPr/>
        </p:nvSpPr>
        <p:spPr>
          <a:xfrm>
            <a:off x="7269480" y="4206240"/>
            <a:ext cx="2057400" cy="868680"/>
          </a:xfrm>
          <a:prstGeom prst="rect">
            <a:avLst/>
          </a:prstGeom>
          <a:noFill/>
          <a:ln/>
        </p:spPr>
        <p:txBody>
          <a:bodyPr wrap="square" lIns="635" tIns="635" rIns="635" bIns="635" rtlCol="0" anchor="ctr"/>
          <a:lstStyle/>
          <a:p>
            <a:pPr algn="ctr" indent="0" marL="0">
              <a:buNone/>
            </a:pPr>
            <a:r>
              <a:rPr lang="en-US" sz="1500" b="1" dirty="0">
                <a:solidFill>
                  <a:srgbClr val="F59E0B"/>
                </a:solidFill>
              </a:rPr>
              <a:t>✓ </a:t>
            </a:r>
            <a:pPr algn="ctr" indent="0" marL="0">
              <a:buNone/>
            </a:pPr>
            <a:r>
              <a:rPr lang="en-US" sz="1500" dirty="0">
                <a:solidFill>
                  <a:srgbClr val="FFFFFF"/>
                </a:solidFill>
              </a:rPr>
              <a:t>M9 Monitoring</a:t>
            </a:r>
            <a:endParaRPr lang="en-US" sz="1500" dirty="0"/>
          </a:p>
        </p:txBody>
      </p:sp>
      <p:sp>
        <p:nvSpPr>
          <p:cNvPr id="22" name="module M10 Docs + demo"/>
          <p:cNvSpPr/>
          <p:nvPr/>
        </p:nvSpPr>
        <p:spPr>
          <a:xfrm>
            <a:off x="9509760" y="4206240"/>
            <a:ext cx="2057400" cy="868680"/>
          </a:xfrm>
          <a:prstGeom prst="roundRect">
            <a:avLst>
              <a:gd name="adj" fmla="val 12632"/>
            </a:avLst>
          </a:prstGeom>
          <a:solidFill>
            <a:srgbClr val="17332E"/>
          </a:solidFill>
          <a:ln w="15875">
            <a:solidFill>
              <a:srgbClr val="0F766E"/>
            </a:solidFill>
            <a:prstDash val="solid"/>
          </a:ln>
        </p:spPr>
      </p:sp>
      <p:sp>
        <p:nvSpPr>
          <p:cNvPr id="23" name="module text M10 Docs + demo"/>
          <p:cNvSpPr txBox="1"/>
          <p:nvPr/>
        </p:nvSpPr>
        <p:spPr>
          <a:xfrm>
            <a:off x="9509760" y="4206240"/>
            <a:ext cx="2057400" cy="868680"/>
          </a:xfrm>
          <a:prstGeom prst="rect">
            <a:avLst/>
          </a:prstGeom>
          <a:noFill/>
          <a:ln/>
        </p:spPr>
        <p:txBody>
          <a:bodyPr wrap="square" lIns="635" tIns="635" rIns="635" bIns="635" rtlCol="0" anchor="ctr"/>
          <a:lstStyle/>
          <a:p>
            <a:pPr algn="ctr" indent="0" marL="0">
              <a:buNone/>
            </a:pPr>
            <a:r>
              <a:rPr lang="en-US" sz="1500" b="1" dirty="0">
                <a:solidFill>
                  <a:srgbClr val="F59E0B"/>
                </a:solidFill>
              </a:rPr>
              <a:t>✓ </a:t>
            </a:r>
            <a:pPr algn="ctr" indent="0" marL="0">
              <a:buNone/>
            </a:pPr>
            <a:r>
              <a:rPr lang="en-US" sz="1500" dirty="0">
                <a:solidFill>
                  <a:srgbClr val="FFFFFF"/>
                </a:solidFill>
              </a:rPr>
              <a:t>M10 Docs + demo</a:t>
            </a:r>
            <a:endParaRPr lang="en-US" sz="1500" dirty="0"/>
          </a:p>
        </p:txBody>
      </p:sp>
      <p:sp>
        <p:nvSpPr>
          <p:cNvPr id="24" name="repo url"/>
          <p:cNvSpPr txBox="1"/>
          <p:nvPr/>
        </p:nvSpPr>
        <p:spPr>
          <a:xfrm>
            <a:off x="548640" y="5669280"/>
            <a:ext cx="7315200" cy="365760"/>
          </a:xfrm>
          <a:prstGeom prst="rect">
            <a:avLst/>
          </a:prstGeom>
          <a:noFill/>
          <a:ln/>
        </p:spPr>
        <p:txBody>
          <a:bodyPr wrap="square" lIns="0" tIns="0" rIns="0" bIns="0" rtlCol="0" anchor="ctr"/>
          <a:lstStyle/>
          <a:p>
            <a:pPr indent="0" marL="0">
              <a:buNone/>
            </a:pPr>
            <a:r>
              <a:rPr lang="en-US" sz="1800" b="1" dirty="0">
                <a:solidFill>
                  <a:schemeClr val="accent2"/>
                </a:solidFill>
              </a:rPr>
              <a:t>github.com/Aryan-Bhendarkar/ClinicQ</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8B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linicQ">
  <a:themeElements>
    <a:clrScheme name="ClinicQ">
      <a:dk1>
        <a:srgbClr val="10231F"/>
      </a:dk1>
      <a:lt1>
        <a:srgbClr val="FFFFFF"/>
      </a:lt1>
      <a:dk2>
        <a:srgbClr val="0F766E"/>
      </a:dk2>
      <a:lt2>
        <a:srgbClr val="EEF4F3"/>
      </a:lt2>
      <a:accent1>
        <a:srgbClr val="0F766E"/>
      </a:accent1>
      <a:accent2>
        <a:srgbClr val="F59E0B"/>
      </a:accent2>
      <a:accent3>
        <a:srgbClr val="2563EB"/>
      </a:accent3>
      <a:accent4>
        <a:srgbClr val="DC2626"/>
      </a:accent4>
      <a:accent5>
        <a:srgbClr val="16A34A"/>
      </a:accent5>
      <a:accent6>
        <a:srgbClr val="64748B"/>
      </a:accent6>
      <a:hlink>
        <a:srgbClr val="0F766E"/>
      </a:hlink>
      <a:folHlink>
        <a:srgbClr val="64748B"/>
      </a:folHlink>
    </a:clrScheme>
    <a:fontScheme name="ClinicQ">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ClinicQ - DevOps Final Capstone</dc:title>
  <dc:subject>PptxGenJS Presentation</dc:subject>
  <dc:creator>Aryan Bhendarkar</dc:creator>
  <cp:lastModifiedBy>Aryan Bhendarkar</cp:lastModifiedBy>
  <cp:revision>1</cp:revision>
  <dcterms:created xsi:type="dcterms:W3CDTF">2026-10-16T11:36:48Z</dcterms:created>
  <dcterms:modified xsi:type="dcterms:W3CDTF">2026-10-16T11:36:48Z</dcterms:modified>
</cp:coreProperties>
</file>